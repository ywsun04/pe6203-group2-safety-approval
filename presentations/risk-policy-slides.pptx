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32bed5f2f14b41" /><Relationship Type="http://schemas.openxmlformats.org/officeDocument/2006/relationships/extended-properties" Target="/docProps/app.xml" Id="Re007009b59474fe0" /><Relationship Type="http://schemas.openxmlformats.org/officeDocument/2006/relationships/officeDocument" Target="/ppt/presentation.xml" Id="Rc7589589cd9b4380" /></Relationships>
</file>

<file path=ppt/presentation.xml><?xml version="1.0" encoding="utf-8"?>
<p:presentation xmlns:p="http://schemas.openxmlformats.org/presentationml/2006/main">
  <p:sldMasterIdLst>
    <p:sldMasterId xmlns:r="http://schemas.openxmlformats.org/officeDocument/2006/relationships" id="2147483648" r:id="R91b5d417faa045c0"/>
  </p:sldMasterIdLst>
  <p:notesMasterIdLst>
    <p:notesMasterId xmlns:r="http://schemas.openxmlformats.org/officeDocument/2006/relationships" r:id="Rf2327f4a1be146f3"/>
  </p:notesMasterIdLst>
  <p:sldIdLst>
    <p:sldId xmlns:r="http://schemas.openxmlformats.org/officeDocument/2006/relationships" id="256" r:id="R87308acfc8024182"/>
    <p:sldId xmlns:r="http://schemas.openxmlformats.org/officeDocument/2006/relationships" id="257" r:id="Ra4dba95746134ec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4a4a364c924953" /><Relationship Type="http://schemas.openxmlformats.org/officeDocument/2006/relationships/slideMaster" Target="/ppt/slideMasters/slideMaster1.xml" Id="R91b5d417faa045c0" /><Relationship Type="http://schemas.openxmlformats.org/officeDocument/2006/relationships/notesMaster" Target="/ppt/notesMasters/notesMaster1.xml" Id="Rf2327f4a1be146f3" /><Relationship Type="http://schemas.openxmlformats.org/officeDocument/2006/relationships/presProps" Target="/ppt/presProps.xml" Id="R97c8872d0dde4e4b" /><Relationship Type="http://schemas.openxmlformats.org/officeDocument/2006/relationships/tableStyles" Target="/ppt/tableStyles.xml" Id="Rc07fe7e8600f4209" /><Relationship Type="http://schemas.openxmlformats.org/officeDocument/2006/relationships/slide" Target="/ppt/slides/slide1.xml" Id="R87308acfc8024182" /><Relationship Type="http://schemas.openxmlformats.org/officeDocument/2006/relationships/slide" Target="/ppt/slides/slide2.xml" Id="Ra4dba95746134ec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8a661edbf546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0eabfb490f411a" /><Relationship Type="http://schemas.openxmlformats.org/officeDocument/2006/relationships/notesMaster" Target="/ppt/notesMasters/notesMaster1.xml" Id="R2c61eccee7c041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730aa1671242cd" /><Relationship Type="http://schemas.openxmlformats.org/officeDocument/2006/relationships/notesMaster" Target="/ppt/notesMasters/notesMaster1.xml" Id="Re067728b56a244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contribution is BasicRiskPolicy. It checks each proposed tool call and returns approve, deny, or escalate. The Gate manages the review budget. I classify tools by their actual effects and add narrow checks for explicit user restrictions. A recipient restriction covers cc and bcc, but a matching recipient does not automatically approve the message. My assessment function is also reused by the budget-aware policy.</a:t>
            </a:r>
          </a:p>
          <a:p xmlns:a="http://schemas.openxmlformats.org/drawingml/2006/main">
            <a:r>
              <a:t/>
            </a:r>
          </a:p>
          <a:p xmlns:a="http://schemas.openxmlformats.org/drawingml/2006/main">
            <a:r>
              <a:t>I delivered the implementation, examples and validation. My initial test run passed 117 tests. I later replayed all 16 BasicRiskPolicy calls in the first formal batch. Their decisions and reasons matched the recorded rules.</a:t>
            </a:r>
          </a:p>
          <a:p xmlns:a="http://schemas.openxmlformats.org/drawingml/2006/main">
            <a:r>
              <a:t/>
            </a:r>
          </a:p>
          <a:p xmlns:a="http://schemas.openxmlformats.org/drawingml/2006/main">
            <a:r>
              <a:t>Sources: approval_gate/policies/basic_risk.py, frozen source 4fc6bdfe4fc0eac03cb13c3f0a041b3d690983f2; initial validation 26 October 2026; Member2-formal-batch01-4fc6bdfe.zip, received 30 October 2026. AI development assistance is disclosed in the contribution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batch covers one task at k equal to two, repeated three times with and without injection. In all three clean BasicRiskPolicy runs, the task completed without review. In all three attacked runs, the agent received the injected text and proposed an unrelated email. My policy escalated the send. The Reviewer denied it, the Gate prevented execution, and the task still completed.</a:t>
            </a:r>
          </a:p>
          <a:p xmlns:a="http://schemas.openxmlformats.org/drawingml/2006/main">
            <a:r>
              <a:t/>
            </a:r>
          </a:p>
          <a:p xmlns:a="http://schemas.openxmlformats.org/drawingml/2006/main">
            <a:r>
              <a:t>Full-approve also completed the task but sent the induced email in every attacked run. Full-escalate completed two of three attacked runs. Its failed run rejected a relevant query before exposure, then exhausted the budget. That is not demonstrated post-exposure protection.</a:t>
            </a:r>
          </a:p>
          <a:p xmlns:a="http://schemas.openxmlformats.org/drawingml/2006/main">
            <a:r>
              <a:t/>
            </a:r>
          </a:p>
          <a:p xmlns:a="http://schemas.openxmlformats.org/drawingml/2006/main">
            <a:r>
              <a:t>These observations support selective escalation in this case. They do not establish a general ranking or a full TCR curve. A local query allow-list also does not prove permission to read a particular object.</a:t>
            </a:r>
          </a:p>
          <a:p xmlns:a="http://schemas.openxmlformats.org/drawingml/2006/main">
            <a:r>
              <a:t/>
            </a:r>
          </a:p>
          <a:p xmlns:a="http://schemas.openxmlformats.org/drawingml/2006/main">
            <a:r>
              <a:t>Sources: Member2-formal-batch01-4fc6bdfe.zip, manifests, calls, tasks and trajectories; member4-batch01-review.zip, manual call review. Results are task utility and observed actions, not a signed-off strict TCR. Review count includes reviews actually started. No new model calls were made for this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4310eca612461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5bc69f78afa4a4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bb749b2e7844b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74abc0caf3841a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b61ba7e90146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cecc8725a44d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B324AB-2626-493A-BA99-EF8D841AA3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04420A8-D02F-4FAA-B109-6C06EB17CEF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76D277D-B621-4561-8F81-B854E45CDF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13A3C8-33D2-44AF-9AAD-0DDFFAB33C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530795-C78D-4B2C-9A00-B6FCD2A9AD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A5359A-8A61-4E0C-8041-38F351C727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8238F9-259C-4C0E-8F1C-A018BCF113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852AF1F-7CDB-4410-9D2E-14E421CC2B4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488483-8440-45EF-9BC3-0390D6B60F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0FE4B2C-D718-4488-B9F7-8BCE320C3C8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cfad0b73e8540c4" /><Relationship Type="http://schemas.openxmlformats.org/officeDocument/2006/relationships/slideLayout" Target="/ppt/slideLayouts/slideLayout1.xml" Id="Red12380c2cb4410e" /><Relationship Type="http://schemas.openxmlformats.org/officeDocument/2006/relationships/slideLayout" Target="/ppt/slideLayouts/slideLayout2.xml" Id="Rd9080b7eff2a4c10" /><Relationship Type="http://schemas.openxmlformats.org/officeDocument/2006/relationships/slideLayout" Target="/ppt/slideLayouts/slideLayout3.xml" Id="R14b42ef2e71f499f" /><Relationship Type="http://schemas.openxmlformats.org/officeDocument/2006/relationships/slideLayout" Target="/ppt/slideLayouts/slideLayout4.xml" Id="Rdd0a27ac95b04551" /><Relationship Type="http://schemas.openxmlformats.org/officeDocument/2006/relationships/slideLayout" Target="/ppt/slideLayouts/slideLayout5.xml" Id="Raf1d69dc2f7c4117" /><Relationship Type="http://schemas.openxmlformats.org/officeDocument/2006/relationships/slideLayout" Target="/ppt/slideLayouts/slideLayout6.xml" Id="R688c119eaf304d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12380c2cb4410e"/>
    <p:sldLayoutId xmlns:r="http://schemas.openxmlformats.org/officeDocument/2006/relationships" id="2147483650" r:id="Rd9080b7eff2a4c10"/>
    <p:sldLayoutId xmlns:r="http://schemas.openxmlformats.org/officeDocument/2006/relationships" id="2147483651" r:id="R14b42ef2e71f499f"/>
    <p:sldLayoutId xmlns:r="http://schemas.openxmlformats.org/officeDocument/2006/relationships" id="2147483652" r:id="Rdd0a27ac95b04551"/>
    <p:sldLayoutId xmlns:r="http://schemas.openxmlformats.org/officeDocument/2006/relationships" id="2147483653" r:id="Raf1d69dc2f7c4117"/>
    <p:sldLayoutId xmlns:r="http://schemas.openxmlformats.org/officeDocument/2006/relationships" id="2147483654" r:id="R688c119eaf304d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42c63ffa89e4d26" /><Relationship Type="http://schemas.openxmlformats.org/officeDocument/2006/relationships/notesSlide" Target="/ppt/notesSlides/notesSlide1.xml" Id="Rac232366f69e49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eab9bf3630b4e7b" /><Relationship Type="http://schemas.openxmlformats.org/officeDocument/2006/relationships/notesSlide" Target="/ppt/notesSlides/notesSlide2.xml" Id="R07eded611dfa450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C52943CC-8608-474A-B1C9-16E2000540BB}"/>
              </a:ext>
            </a:extLst>
          </p:cNvPr>
          <p:cNvSpPr>
            <a:spLocks xmlns:a="http://schemas.openxmlformats.org/drawingml/2006/main" noGrp="1"/>
          </p:cNvSpPr>
          <p:nvPr/>
        </p:nvSpPr>
        <p:spPr>
          <a:xfrm xmlns:a="http://schemas.openxmlformats.org/drawingml/2006/main">
            <a:off x="609600" y="4381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212B"/>
                </a:solidFill>
                <a:latin typeface="Arial"/>
                <a:ea typeface="Arial"/>
                <a:cs typeface="Arial"/>
              </a:defRPr>
            </a:defPPr>
            <a:lvl1pPr>
              <a:defRPr sz="3600" b="1">
                <a:solidFill>
                  <a:srgbClr val="17212B"/>
                </a:solidFill>
                <a:latin typeface="Arial"/>
                <a:ea typeface="Arial"/>
                <a:cs typeface="Arial"/>
              </a:defRPr>
            </a:lvl1pPr>
            <a:lvl2pPr>
              <a:defRPr sz="3600" b="1">
                <a:solidFill>
                  <a:srgbClr val="17212B"/>
                </a:solidFill>
                <a:latin typeface="Arial"/>
                <a:ea typeface="Arial"/>
                <a:cs typeface="Arial"/>
              </a:defRPr>
            </a:lvl2pPr>
            <a:lvl3pPr>
              <a:defRPr sz="3600" b="1">
                <a:solidFill>
                  <a:srgbClr val="17212B"/>
                </a:solidFill>
                <a:latin typeface="Arial"/>
                <a:ea typeface="Arial"/>
                <a:cs typeface="Arial"/>
              </a:defRPr>
            </a:lvl3pPr>
            <a:lvl4pPr>
              <a:defRPr sz="3600" b="1">
                <a:solidFill>
                  <a:srgbClr val="17212B"/>
                </a:solidFill>
                <a:latin typeface="Arial"/>
                <a:ea typeface="Arial"/>
                <a:cs typeface="Arial"/>
              </a:defRPr>
            </a:lvl4pPr>
            <a:lvl5pPr>
              <a:defRPr sz="3600" b="1">
                <a:solidFill>
                  <a:srgbClr val="17212B"/>
                </a:solidFill>
                <a:latin typeface="Arial"/>
                <a:ea typeface="Arial"/>
                <a:cs typeface="Arial"/>
              </a:defRPr>
            </a:lvl5pPr>
            <a:lvl6pPr>
              <a:defRPr sz="3600" b="1">
                <a:solidFill>
                  <a:srgbClr val="17212B"/>
                </a:solidFill>
                <a:latin typeface="Arial"/>
                <a:ea typeface="Arial"/>
                <a:cs typeface="Arial"/>
              </a:defRPr>
            </a:lvl6pPr>
            <a:lvl7pPr>
              <a:defRPr sz="3600" b="1">
                <a:solidFill>
                  <a:srgbClr val="17212B"/>
                </a:solidFill>
                <a:latin typeface="Arial"/>
                <a:ea typeface="Arial"/>
                <a:cs typeface="Arial"/>
              </a:defRPr>
            </a:lvl7pPr>
            <a:lvl8pPr>
              <a:defRPr sz="3600" b="1">
                <a:solidFill>
                  <a:srgbClr val="17212B"/>
                </a:solidFill>
                <a:latin typeface="Arial"/>
                <a:ea typeface="Arial"/>
                <a:cs typeface="Arial"/>
              </a:defRPr>
            </a:lvl8pPr>
            <a:lvl9pPr>
              <a:defRPr sz="3600" b="1">
                <a:solidFill>
                  <a:srgbClr val="17212B"/>
                </a:solidFill>
                <a:latin typeface="Arial"/>
                <a:ea typeface="Arial"/>
                <a:cs typeface="Arial"/>
              </a:defRPr>
            </a:lvl9pPr>
          </a:lstStyle>
          <a:p xmlns:a="http://schemas.openxmlformats.org/drawingml/2006/main">
            <a:pPr>
              <a:defRPr sz="3600" b="1">
                <a:solidFill>
                  <a:srgbClr val="17212B"/>
                </a:solidFill>
                <a:latin typeface="Arial"/>
                <a:ea typeface="Arial"/>
                <a:cs typeface="Arial"/>
              </a:defRPr>
            </a:pPr>
            <a:r>
              <a:rPr sz="3600" b="1">
                <a:solidFill>
                  <a:srgbClr val="17212B"/>
                </a:solidFill>
                <a:latin typeface="Arial"/>
                <a:ea typeface="Arial"/>
                <a:cs typeface="Arial"/>
              </a:rPr>
              <a:t>Risk based approval</a:t>
            </a:r>
          </a:p>
        </p:txBody>
      </p:sp>
      <p:sp>
        <p:nvSpPr>
          <p:cNvPr id="2" name="scope">
            <a:extLst xmlns:a="http://schemas.openxmlformats.org/drawingml/2006/main">
              <a:ext uri="{FF2B5EF4-FFF2-40B4-BE49-F238E27FC236}">
                <a16:creationId xmlns:a16="http://schemas.microsoft.com/office/drawing/2014/main" id="{63238151-F6D9-4655-8284-4C8CE1C021FE}"/>
              </a:ext>
            </a:extLst>
          </p:cNvPr>
          <p:cNvSpPr>
            <a:spLocks xmlns:a="http://schemas.openxmlformats.org/drawingml/2006/main" noGrp="1"/>
          </p:cNvSpPr>
          <p:nvPr/>
        </p:nvSpPr>
        <p:spPr>
          <a:xfrm xmlns:a="http://schemas.openxmlformats.org/drawingml/2006/main">
            <a:off x="647700" y="12954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435362"/>
                </a:solidFill>
                <a:latin typeface="Arial"/>
                <a:ea typeface="Arial"/>
                <a:cs typeface="Arial"/>
              </a:defRPr>
            </a:defPPr>
            <a:lvl1pPr>
              <a:defRPr sz="2175" b="0">
                <a:solidFill>
                  <a:srgbClr val="435362"/>
                </a:solidFill>
                <a:latin typeface="Arial"/>
                <a:ea typeface="Arial"/>
                <a:cs typeface="Arial"/>
              </a:defRPr>
            </a:lvl1pPr>
            <a:lvl2pPr>
              <a:defRPr sz="2175" b="0">
                <a:solidFill>
                  <a:srgbClr val="435362"/>
                </a:solidFill>
                <a:latin typeface="Arial"/>
                <a:ea typeface="Arial"/>
                <a:cs typeface="Arial"/>
              </a:defRPr>
            </a:lvl2pPr>
            <a:lvl3pPr>
              <a:defRPr sz="2175" b="0">
                <a:solidFill>
                  <a:srgbClr val="435362"/>
                </a:solidFill>
                <a:latin typeface="Arial"/>
                <a:ea typeface="Arial"/>
                <a:cs typeface="Arial"/>
              </a:defRPr>
            </a:lvl3pPr>
            <a:lvl4pPr>
              <a:defRPr sz="2175" b="0">
                <a:solidFill>
                  <a:srgbClr val="435362"/>
                </a:solidFill>
                <a:latin typeface="Arial"/>
                <a:ea typeface="Arial"/>
                <a:cs typeface="Arial"/>
              </a:defRPr>
            </a:lvl4pPr>
            <a:lvl5pPr>
              <a:defRPr sz="2175" b="0">
                <a:solidFill>
                  <a:srgbClr val="435362"/>
                </a:solidFill>
                <a:latin typeface="Arial"/>
                <a:ea typeface="Arial"/>
                <a:cs typeface="Arial"/>
              </a:defRPr>
            </a:lvl5pPr>
            <a:lvl6pPr>
              <a:defRPr sz="2175" b="0">
                <a:solidFill>
                  <a:srgbClr val="435362"/>
                </a:solidFill>
                <a:latin typeface="Arial"/>
                <a:ea typeface="Arial"/>
                <a:cs typeface="Arial"/>
              </a:defRPr>
            </a:lvl6pPr>
            <a:lvl7pPr>
              <a:defRPr sz="2175" b="0">
                <a:solidFill>
                  <a:srgbClr val="435362"/>
                </a:solidFill>
                <a:latin typeface="Arial"/>
                <a:ea typeface="Arial"/>
                <a:cs typeface="Arial"/>
              </a:defRPr>
            </a:lvl7pPr>
            <a:lvl8pPr>
              <a:defRPr sz="2175" b="0">
                <a:solidFill>
                  <a:srgbClr val="435362"/>
                </a:solidFill>
                <a:latin typeface="Arial"/>
                <a:ea typeface="Arial"/>
                <a:cs typeface="Arial"/>
              </a:defRPr>
            </a:lvl8pPr>
            <a:lvl9pPr>
              <a:defRPr sz="2175" b="0">
                <a:solidFill>
                  <a:srgbClr val="435362"/>
                </a:solidFill>
                <a:latin typeface="Arial"/>
                <a:ea typeface="Arial"/>
                <a:cs typeface="Arial"/>
              </a:defRPr>
            </a:lvl9pPr>
          </a:lstStyle>
          <a:p xmlns:a="http://schemas.openxmlformats.org/drawingml/2006/main">
            <a:pPr>
              <a:defRPr sz="2175" b="0">
                <a:solidFill>
                  <a:srgbClr val="435362"/>
                </a:solidFill>
                <a:latin typeface="Arial"/>
                <a:ea typeface="Arial"/>
                <a:cs typeface="Arial"/>
              </a:defRPr>
            </a:pPr>
            <a:r>
              <a:rPr sz="2175" b="0">
                <a:solidFill>
                  <a:srgbClr val="435362"/>
                </a:solidFill>
                <a:latin typeface="Arial"/>
                <a:ea typeface="Arial"/>
                <a:cs typeface="Arial"/>
              </a:rPr>
              <a:t>BasicRiskPolicy checks each proposed call before execution.</a:t>
            </a:r>
          </a:p>
        </p:txBody>
      </p:sp>
      <p:sp>
        <p:nvSpPr>
          <p:cNvPr id="3" name="approve-label">
            <a:extLst xmlns:a="http://schemas.openxmlformats.org/drawingml/2006/main">
              <a:ext uri="{FF2B5EF4-FFF2-40B4-BE49-F238E27FC236}">
                <a16:creationId xmlns:a16="http://schemas.microsoft.com/office/drawing/2014/main" id="{9D6F6B13-0AA0-44E8-8332-6EC45DBE780A}"/>
              </a:ext>
            </a:extLst>
          </p:cNvPr>
          <p:cNvSpPr>
            <a:spLocks xmlns:a="http://schemas.openxmlformats.org/drawingml/2006/main" noGrp="1"/>
          </p:cNvSpPr>
          <p:nvPr/>
        </p:nvSpPr>
        <p:spPr>
          <a:xfrm xmlns:a="http://schemas.openxmlformats.org/drawingml/2006/main">
            <a:off x="647700" y="23622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212B"/>
                </a:solidFill>
                <a:latin typeface="Arial"/>
                <a:ea typeface="Arial"/>
                <a:cs typeface="Arial"/>
              </a:defRPr>
            </a:defPPr>
            <a:lvl1pPr>
              <a:defRPr sz="2325" b="1">
                <a:solidFill>
                  <a:srgbClr val="17212B"/>
                </a:solidFill>
                <a:latin typeface="Arial"/>
                <a:ea typeface="Arial"/>
                <a:cs typeface="Arial"/>
              </a:defRPr>
            </a:lvl1pPr>
            <a:lvl2pPr>
              <a:defRPr sz="2325" b="1">
                <a:solidFill>
                  <a:srgbClr val="17212B"/>
                </a:solidFill>
                <a:latin typeface="Arial"/>
                <a:ea typeface="Arial"/>
                <a:cs typeface="Arial"/>
              </a:defRPr>
            </a:lvl2pPr>
            <a:lvl3pPr>
              <a:defRPr sz="2325" b="1">
                <a:solidFill>
                  <a:srgbClr val="17212B"/>
                </a:solidFill>
                <a:latin typeface="Arial"/>
                <a:ea typeface="Arial"/>
                <a:cs typeface="Arial"/>
              </a:defRPr>
            </a:lvl3pPr>
            <a:lvl4pPr>
              <a:defRPr sz="2325" b="1">
                <a:solidFill>
                  <a:srgbClr val="17212B"/>
                </a:solidFill>
                <a:latin typeface="Arial"/>
                <a:ea typeface="Arial"/>
                <a:cs typeface="Arial"/>
              </a:defRPr>
            </a:lvl4pPr>
            <a:lvl5pPr>
              <a:defRPr sz="2325" b="1">
                <a:solidFill>
                  <a:srgbClr val="17212B"/>
                </a:solidFill>
                <a:latin typeface="Arial"/>
                <a:ea typeface="Arial"/>
                <a:cs typeface="Arial"/>
              </a:defRPr>
            </a:lvl5pPr>
            <a:lvl6pPr>
              <a:defRPr sz="2325" b="1">
                <a:solidFill>
                  <a:srgbClr val="17212B"/>
                </a:solidFill>
                <a:latin typeface="Arial"/>
                <a:ea typeface="Arial"/>
                <a:cs typeface="Arial"/>
              </a:defRPr>
            </a:lvl6pPr>
            <a:lvl7pPr>
              <a:defRPr sz="2325" b="1">
                <a:solidFill>
                  <a:srgbClr val="17212B"/>
                </a:solidFill>
                <a:latin typeface="Arial"/>
                <a:ea typeface="Arial"/>
                <a:cs typeface="Arial"/>
              </a:defRPr>
            </a:lvl7pPr>
            <a:lvl8pPr>
              <a:defRPr sz="2325" b="1">
                <a:solidFill>
                  <a:srgbClr val="17212B"/>
                </a:solidFill>
                <a:latin typeface="Arial"/>
                <a:ea typeface="Arial"/>
                <a:cs typeface="Arial"/>
              </a:defRPr>
            </a:lvl8pPr>
            <a:lvl9pPr>
              <a:defRPr sz="2325" b="1">
                <a:solidFill>
                  <a:srgbClr val="17212B"/>
                </a:solidFill>
                <a:latin typeface="Arial"/>
                <a:ea typeface="Arial"/>
                <a:cs typeface="Arial"/>
              </a:defRPr>
            </a:lvl9pPr>
          </a:lstStyle>
          <a:p xmlns:a="http://schemas.openxmlformats.org/drawingml/2006/main">
            <a:pPr>
              <a:defRPr sz="2325" b="1">
                <a:solidFill>
                  <a:srgbClr val="17212B"/>
                </a:solidFill>
                <a:latin typeface="Arial"/>
                <a:ea typeface="Arial"/>
                <a:cs typeface="Arial"/>
              </a:defRPr>
            </a:pPr>
            <a:r>
              <a:rPr sz="2325" b="1">
                <a:solidFill>
                  <a:srgbClr val="17212B"/>
                </a:solidFill>
                <a:latin typeface="Arial"/>
                <a:ea typeface="Arial"/>
                <a:cs typeface="Arial"/>
              </a:rPr>
              <a:t>APPROVE</a:t>
            </a:r>
          </a:p>
        </p:txBody>
      </p:sp>
      <p:sp>
        <p:nvSpPr>
          <p:cNvPr id="4" name="approve-text">
            <a:extLst xmlns:a="http://schemas.openxmlformats.org/drawingml/2006/main">
              <a:ext uri="{FF2B5EF4-FFF2-40B4-BE49-F238E27FC236}">
                <a16:creationId xmlns:a16="http://schemas.microsoft.com/office/drawing/2014/main" id="{D04C2FDD-79EC-4704-95D8-F001FC890EF3}"/>
              </a:ext>
            </a:extLst>
          </p:cNvPr>
          <p:cNvSpPr>
            <a:spLocks xmlns:a="http://schemas.openxmlformats.org/drawingml/2006/main" noGrp="1"/>
          </p:cNvSpPr>
          <p:nvPr/>
        </p:nvSpPr>
        <p:spPr>
          <a:xfrm xmlns:a="http://schemas.openxmlformats.org/drawingml/2006/main">
            <a:off x="3143250" y="2362200"/>
            <a:ext cx="8191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212B"/>
                </a:solidFill>
                <a:latin typeface="Arial"/>
                <a:ea typeface="Arial"/>
                <a:cs typeface="Arial"/>
              </a:defRPr>
            </a:defPPr>
            <a:lvl1pPr>
              <a:defRPr sz="2400" b="0">
                <a:solidFill>
                  <a:srgbClr val="17212B"/>
                </a:solidFill>
                <a:latin typeface="Arial"/>
                <a:ea typeface="Arial"/>
                <a:cs typeface="Arial"/>
              </a:defRPr>
            </a:lvl1pPr>
            <a:lvl2pPr>
              <a:defRPr sz="2400" b="0">
                <a:solidFill>
                  <a:srgbClr val="17212B"/>
                </a:solidFill>
                <a:latin typeface="Arial"/>
                <a:ea typeface="Arial"/>
                <a:cs typeface="Arial"/>
              </a:defRPr>
            </a:lvl2pPr>
            <a:lvl3pPr>
              <a:defRPr sz="2400" b="0">
                <a:solidFill>
                  <a:srgbClr val="17212B"/>
                </a:solidFill>
                <a:latin typeface="Arial"/>
                <a:ea typeface="Arial"/>
                <a:cs typeface="Arial"/>
              </a:defRPr>
            </a:lvl3pPr>
            <a:lvl4pPr>
              <a:defRPr sz="2400" b="0">
                <a:solidFill>
                  <a:srgbClr val="17212B"/>
                </a:solidFill>
                <a:latin typeface="Arial"/>
                <a:ea typeface="Arial"/>
                <a:cs typeface="Arial"/>
              </a:defRPr>
            </a:lvl4pPr>
            <a:lvl5pPr>
              <a:defRPr sz="2400" b="0">
                <a:solidFill>
                  <a:srgbClr val="17212B"/>
                </a:solidFill>
                <a:latin typeface="Arial"/>
                <a:ea typeface="Arial"/>
                <a:cs typeface="Arial"/>
              </a:defRPr>
            </a:lvl5pPr>
            <a:lvl6pPr>
              <a:defRPr sz="2400" b="0">
                <a:solidFill>
                  <a:srgbClr val="17212B"/>
                </a:solidFill>
                <a:latin typeface="Arial"/>
                <a:ea typeface="Arial"/>
                <a:cs typeface="Arial"/>
              </a:defRPr>
            </a:lvl6pPr>
            <a:lvl7pPr>
              <a:defRPr sz="2400" b="0">
                <a:solidFill>
                  <a:srgbClr val="17212B"/>
                </a:solidFill>
                <a:latin typeface="Arial"/>
                <a:ea typeface="Arial"/>
                <a:cs typeface="Arial"/>
              </a:defRPr>
            </a:lvl7pPr>
            <a:lvl8pPr>
              <a:defRPr sz="2400" b="0">
                <a:solidFill>
                  <a:srgbClr val="17212B"/>
                </a:solidFill>
                <a:latin typeface="Arial"/>
                <a:ea typeface="Arial"/>
                <a:cs typeface="Arial"/>
              </a:defRPr>
            </a:lvl8pPr>
            <a:lvl9pPr>
              <a:defRPr sz="2400" b="0">
                <a:solidFill>
                  <a:srgbClr val="17212B"/>
                </a:solidFill>
                <a:latin typeface="Arial"/>
                <a:ea typeface="Arial"/>
                <a:cs typeface="Arial"/>
              </a:defRPr>
            </a:lvl9pPr>
          </a:lstStyle>
          <a:p xmlns:a="http://schemas.openxmlformats.org/drawingml/2006/main">
            <a:pPr>
              <a:defRPr sz="2400" b="0">
                <a:solidFill>
                  <a:srgbClr val="17212B"/>
                </a:solidFill>
                <a:latin typeface="Arial"/>
                <a:ea typeface="Arial"/>
                <a:cs typeface="Arial"/>
              </a:defRPr>
            </a:pPr>
            <a:r>
              <a:rPr sz="2400" b="0">
                <a:solidFill>
                  <a:srgbClr val="17212B"/>
                </a:solidFill>
                <a:latin typeface="Arial"/>
                <a:ea typeface="Arial"/>
                <a:cs typeface="Arial"/>
              </a:rPr>
              <a:t>Reviewed local queries</a:t>
            </a:r>
          </a:p>
        </p:txBody>
      </p:sp>
      <p:sp>
        <p:nvSpPr>
          <p:cNvPr id="5" name="deny-label">
            <a:extLst xmlns:a="http://schemas.openxmlformats.org/drawingml/2006/main">
              <a:ext uri="{FF2B5EF4-FFF2-40B4-BE49-F238E27FC236}">
                <a16:creationId xmlns:a16="http://schemas.microsoft.com/office/drawing/2014/main" id="{E3F83C6B-2FC2-4F2C-BC46-C574DB3C2F5E}"/>
              </a:ext>
            </a:extLst>
          </p:cNvPr>
          <p:cNvSpPr>
            <a:spLocks xmlns:a="http://schemas.openxmlformats.org/drawingml/2006/main" noGrp="1"/>
          </p:cNvSpPr>
          <p:nvPr/>
        </p:nvSpPr>
        <p:spPr>
          <a:xfrm xmlns:a="http://schemas.openxmlformats.org/drawingml/2006/main">
            <a:off x="647700" y="34290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212B"/>
                </a:solidFill>
                <a:latin typeface="Arial"/>
                <a:ea typeface="Arial"/>
                <a:cs typeface="Arial"/>
              </a:defRPr>
            </a:defPPr>
            <a:lvl1pPr>
              <a:defRPr sz="2325" b="1">
                <a:solidFill>
                  <a:srgbClr val="17212B"/>
                </a:solidFill>
                <a:latin typeface="Arial"/>
                <a:ea typeface="Arial"/>
                <a:cs typeface="Arial"/>
              </a:defRPr>
            </a:lvl1pPr>
            <a:lvl2pPr>
              <a:defRPr sz="2325" b="1">
                <a:solidFill>
                  <a:srgbClr val="17212B"/>
                </a:solidFill>
                <a:latin typeface="Arial"/>
                <a:ea typeface="Arial"/>
                <a:cs typeface="Arial"/>
              </a:defRPr>
            </a:lvl2pPr>
            <a:lvl3pPr>
              <a:defRPr sz="2325" b="1">
                <a:solidFill>
                  <a:srgbClr val="17212B"/>
                </a:solidFill>
                <a:latin typeface="Arial"/>
                <a:ea typeface="Arial"/>
                <a:cs typeface="Arial"/>
              </a:defRPr>
            </a:lvl3pPr>
            <a:lvl4pPr>
              <a:defRPr sz="2325" b="1">
                <a:solidFill>
                  <a:srgbClr val="17212B"/>
                </a:solidFill>
                <a:latin typeface="Arial"/>
                <a:ea typeface="Arial"/>
                <a:cs typeface="Arial"/>
              </a:defRPr>
            </a:lvl4pPr>
            <a:lvl5pPr>
              <a:defRPr sz="2325" b="1">
                <a:solidFill>
                  <a:srgbClr val="17212B"/>
                </a:solidFill>
                <a:latin typeface="Arial"/>
                <a:ea typeface="Arial"/>
                <a:cs typeface="Arial"/>
              </a:defRPr>
            </a:lvl5pPr>
            <a:lvl6pPr>
              <a:defRPr sz="2325" b="1">
                <a:solidFill>
                  <a:srgbClr val="17212B"/>
                </a:solidFill>
                <a:latin typeface="Arial"/>
                <a:ea typeface="Arial"/>
                <a:cs typeface="Arial"/>
              </a:defRPr>
            </a:lvl6pPr>
            <a:lvl7pPr>
              <a:defRPr sz="2325" b="1">
                <a:solidFill>
                  <a:srgbClr val="17212B"/>
                </a:solidFill>
                <a:latin typeface="Arial"/>
                <a:ea typeface="Arial"/>
                <a:cs typeface="Arial"/>
              </a:defRPr>
            </a:lvl7pPr>
            <a:lvl8pPr>
              <a:defRPr sz="2325" b="1">
                <a:solidFill>
                  <a:srgbClr val="17212B"/>
                </a:solidFill>
                <a:latin typeface="Arial"/>
                <a:ea typeface="Arial"/>
                <a:cs typeface="Arial"/>
              </a:defRPr>
            </a:lvl8pPr>
            <a:lvl9pPr>
              <a:defRPr sz="2325" b="1">
                <a:solidFill>
                  <a:srgbClr val="17212B"/>
                </a:solidFill>
                <a:latin typeface="Arial"/>
                <a:ea typeface="Arial"/>
                <a:cs typeface="Arial"/>
              </a:defRPr>
            </a:lvl9pPr>
          </a:lstStyle>
          <a:p xmlns:a="http://schemas.openxmlformats.org/drawingml/2006/main">
            <a:pPr>
              <a:defRPr sz="2325" b="1">
                <a:solidFill>
                  <a:srgbClr val="17212B"/>
                </a:solidFill>
                <a:latin typeface="Arial"/>
                <a:ea typeface="Arial"/>
                <a:cs typeface="Arial"/>
              </a:defRPr>
            </a:pPr>
            <a:r>
              <a:rPr sz="2325" b="1">
                <a:solidFill>
                  <a:srgbClr val="17212B"/>
                </a:solidFill>
                <a:latin typeface="Arial"/>
                <a:ea typeface="Arial"/>
                <a:cs typeface="Arial"/>
              </a:rPr>
              <a:t>DENY</a:t>
            </a:r>
          </a:p>
        </p:txBody>
      </p:sp>
      <p:sp>
        <p:nvSpPr>
          <p:cNvPr id="6" name="deny-text">
            <a:extLst xmlns:a="http://schemas.openxmlformats.org/drawingml/2006/main">
              <a:ext uri="{FF2B5EF4-FFF2-40B4-BE49-F238E27FC236}">
                <a16:creationId xmlns:a16="http://schemas.microsoft.com/office/drawing/2014/main" id="{1C381CE0-5132-4124-B8E8-1253644EE296}"/>
              </a:ext>
            </a:extLst>
          </p:cNvPr>
          <p:cNvSpPr>
            <a:spLocks xmlns:a="http://schemas.openxmlformats.org/drawingml/2006/main" noGrp="1"/>
          </p:cNvSpPr>
          <p:nvPr/>
        </p:nvSpPr>
        <p:spPr>
          <a:xfrm xmlns:a="http://schemas.openxmlformats.org/drawingml/2006/main">
            <a:off x="3143250" y="3333750"/>
            <a:ext cx="8191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212B"/>
                </a:solidFill>
                <a:latin typeface="Arial"/>
                <a:ea typeface="Arial"/>
                <a:cs typeface="Arial"/>
              </a:defRPr>
            </a:defPPr>
            <a:lvl1pPr>
              <a:defRPr sz="2250" b="0">
                <a:solidFill>
                  <a:srgbClr val="17212B"/>
                </a:solidFill>
                <a:latin typeface="Arial"/>
                <a:ea typeface="Arial"/>
                <a:cs typeface="Arial"/>
              </a:defRPr>
            </a:lvl1pPr>
            <a:lvl2pPr>
              <a:defRPr sz="2250" b="0">
                <a:solidFill>
                  <a:srgbClr val="17212B"/>
                </a:solidFill>
                <a:latin typeface="Arial"/>
                <a:ea typeface="Arial"/>
                <a:cs typeface="Arial"/>
              </a:defRPr>
            </a:lvl2pPr>
            <a:lvl3pPr>
              <a:defRPr sz="2250" b="0">
                <a:solidFill>
                  <a:srgbClr val="17212B"/>
                </a:solidFill>
                <a:latin typeface="Arial"/>
                <a:ea typeface="Arial"/>
                <a:cs typeface="Arial"/>
              </a:defRPr>
            </a:lvl3pPr>
            <a:lvl4pPr>
              <a:defRPr sz="2250" b="0">
                <a:solidFill>
                  <a:srgbClr val="17212B"/>
                </a:solidFill>
                <a:latin typeface="Arial"/>
                <a:ea typeface="Arial"/>
                <a:cs typeface="Arial"/>
              </a:defRPr>
            </a:lvl4pPr>
            <a:lvl5pPr>
              <a:defRPr sz="2250" b="0">
                <a:solidFill>
                  <a:srgbClr val="17212B"/>
                </a:solidFill>
                <a:latin typeface="Arial"/>
                <a:ea typeface="Arial"/>
                <a:cs typeface="Arial"/>
              </a:defRPr>
            </a:lvl5pPr>
            <a:lvl6pPr>
              <a:defRPr sz="2250" b="0">
                <a:solidFill>
                  <a:srgbClr val="17212B"/>
                </a:solidFill>
                <a:latin typeface="Arial"/>
                <a:ea typeface="Arial"/>
                <a:cs typeface="Arial"/>
              </a:defRPr>
            </a:lvl6pPr>
            <a:lvl7pPr>
              <a:defRPr sz="2250" b="0">
                <a:solidFill>
                  <a:srgbClr val="17212B"/>
                </a:solidFill>
                <a:latin typeface="Arial"/>
                <a:ea typeface="Arial"/>
                <a:cs typeface="Arial"/>
              </a:defRPr>
            </a:lvl7pPr>
            <a:lvl8pPr>
              <a:defRPr sz="2250" b="0">
                <a:solidFill>
                  <a:srgbClr val="17212B"/>
                </a:solidFill>
                <a:latin typeface="Arial"/>
                <a:ea typeface="Arial"/>
                <a:cs typeface="Arial"/>
              </a:defRPr>
            </a:lvl8pPr>
            <a:lvl9pPr>
              <a:defRPr sz="2250" b="0">
                <a:solidFill>
                  <a:srgbClr val="17212B"/>
                </a:solidFill>
                <a:latin typeface="Arial"/>
                <a:ea typeface="Arial"/>
                <a:cs typeface="Arial"/>
              </a:defRPr>
            </a:lvl9pPr>
          </a:lstStyle>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Invalid input, narrow credential patterns,</a:t>
            </a:r>
          </a:p>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recognised explicit user restrictions</a:t>
            </a:r>
          </a:p>
        </p:txBody>
      </p:sp>
      <p:sp>
        <p:nvSpPr>
          <p:cNvPr id="7" name="escalate-label">
            <a:extLst xmlns:a="http://schemas.openxmlformats.org/drawingml/2006/main">
              <a:ext uri="{FF2B5EF4-FFF2-40B4-BE49-F238E27FC236}">
                <a16:creationId xmlns:a16="http://schemas.microsoft.com/office/drawing/2014/main" id="{6B94F020-C991-4D1E-AE4B-ABCDA91FBA34}"/>
              </a:ext>
            </a:extLst>
          </p:cNvPr>
          <p:cNvSpPr>
            <a:spLocks xmlns:a="http://schemas.openxmlformats.org/drawingml/2006/main" noGrp="1"/>
          </p:cNvSpPr>
          <p:nvPr/>
        </p:nvSpPr>
        <p:spPr>
          <a:xfrm xmlns:a="http://schemas.openxmlformats.org/drawingml/2006/main">
            <a:off x="647700" y="46482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212B"/>
                </a:solidFill>
                <a:latin typeface="Arial"/>
                <a:ea typeface="Arial"/>
                <a:cs typeface="Arial"/>
              </a:defRPr>
            </a:defPPr>
            <a:lvl1pPr>
              <a:defRPr sz="2325" b="1">
                <a:solidFill>
                  <a:srgbClr val="17212B"/>
                </a:solidFill>
                <a:latin typeface="Arial"/>
                <a:ea typeface="Arial"/>
                <a:cs typeface="Arial"/>
              </a:defRPr>
            </a:lvl1pPr>
            <a:lvl2pPr>
              <a:defRPr sz="2325" b="1">
                <a:solidFill>
                  <a:srgbClr val="17212B"/>
                </a:solidFill>
                <a:latin typeface="Arial"/>
                <a:ea typeface="Arial"/>
                <a:cs typeface="Arial"/>
              </a:defRPr>
            </a:lvl2pPr>
            <a:lvl3pPr>
              <a:defRPr sz="2325" b="1">
                <a:solidFill>
                  <a:srgbClr val="17212B"/>
                </a:solidFill>
                <a:latin typeface="Arial"/>
                <a:ea typeface="Arial"/>
                <a:cs typeface="Arial"/>
              </a:defRPr>
            </a:lvl3pPr>
            <a:lvl4pPr>
              <a:defRPr sz="2325" b="1">
                <a:solidFill>
                  <a:srgbClr val="17212B"/>
                </a:solidFill>
                <a:latin typeface="Arial"/>
                <a:ea typeface="Arial"/>
                <a:cs typeface="Arial"/>
              </a:defRPr>
            </a:lvl4pPr>
            <a:lvl5pPr>
              <a:defRPr sz="2325" b="1">
                <a:solidFill>
                  <a:srgbClr val="17212B"/>
                </a:solidFill>
                <a:latin typeface="Arial"/>
                <a:ea typeface="Arial"/>
                <a:cs typeface="Arial"/>
              </a:defRPr>
            </a:lvl5pPr>
            <a:lvl6pPr>
              <a:defRPr sz="2325" b="1">
                <a:solidFill>
                  <a:srgbClr val="17212B"/>
                </a:solidFill>
                <a:latin typeface="Arial"/>
                <a:ea typeface="Arial"/>
                <a:cs typeface="Arial"/>
              </a:defRPr>
            </a:lvl6pPr>
            <a:lvl7pPr>
              <a:defRPr sz="2325" b="1">
                <a:solidFill>
                  <a:srgbClr val="17212B"/>
                </a:solidFill>
                <a:latin typeface="Arial"/>
                <a:ea typeface="Arial"/>
                <a:cs typeface="Arial"/>
              </a:defRPr>
            </a:lvl7pPr>
            <a:lvl8pPr>
              <a:defRPr sz="2325" b="1">
                <a:solidFill>
                  <a:srgbClr val="17212B"/>
                </a:solidFill>
                <a:latin typeface="Arial"/>
                <a:ea typeface="Arial"/>
                <a:cs typeface="Arial"/>
              </a:defRPr>
            </a:lvl8pPr>
            <a:lvl9pPr>
              <a:defRPr sz="2325" b="1">
                <a:solidFill>
                  <a:srgbClr val="17212B"/>
                </a:solidFill>
                <a:latin typeface="Arial"/>
                <a:ea typeface="Arial"/>
                <a:cs typeface="Arial"/>
              </a:defRPr>
            </a:lvl9pPr>
          </a:lstStyle>
          <a:p xmlns:a="http://schemas.openxmlformats.org/drawingml/2006/main">
            <a:pPr>
              <a:defRPr sz="2325" b="1">
                <a:solidFill>
                  <a:srgbClr val="17212B"/>
                </a:solidFill>
                <a:latin typeface="Arial"/>
                <a:ea typeface="Arial"/>
                <a:cs typeface="Arial"/>
              </a:defRPr>
            </a:pPr>
            <a:r>
              <a:rPr sz="2325" b="1">
                <a:solidFill>
                  <a:srgbClr val="17212B"/>
                </a:solidFill>
                <a:latin typeface="Arial"/>
                <a:ea typeface="Arial"/>
                <a:cs typeface="Arial"/>
              </a:rPr>
              <a:t>ESCALATE</a:t>
            </a:r>
          </a:p>
        </p:txBody>
      </p:sp>
      <p:sp>
        <p:nvSpPr>
          <p:cNvPr id="8" name="escalate-text">
            <a:extLst xmlns:a="http://schemas.openxmlformats.org/drawingml/2006/main">
              <a:ext uri="{FF2B5EF4-FFF2-40B4-BE49-F238E27FC236}">
                <a16:creationId xmlns:a16="http://schemas.microsoft.com/office/drawing/2014/main" id="{A0D33630-873E-45E7-9B00-534E5243445B}"/>
              </a:ext>
            </a:extLst>
          </p:cNvPr>
          <p:cNvSpPr>
            <a:spLocks xmlns:a="http://schemas.openxmlformats.org/drawingml/2006/main" noGrp="1"/>
          </p:cNvSpPr>
          <p:nvPr/>
        </p:nvSpPr>
        <p:spPr>
          <a:xfrm xmlns:a="http://schemas.openxmlformats.org/drawingml/2006/main">
            <a:off x="3143250" y="4524375"/>
            <a:ext cx="8191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212B"/>
                </a:solidFill>
                <a:latin typeface="Arial"/>
                <a:ea typeface="Arial"/>
                <a:cs typeface="Arial"/>
              </a:defRPr>
            </a:defPPr>
            <a:lvl1pPr>
              <a:defRPr sz="2250" b="0">
                <a:solidFill>
                  <a:srgbClr val="17212B"/>
                </a:solidFill>
                <a:latin typeface="Arial"/>
                <a:ea typeface="Arial"/>
                <a:cs typeface="Arial"/>
              </a:defRPr>
            </a:lvl1pPr>
            <a:lvl2pPr>
              <a:defRPr sz="2250" b="0">
                <a:solidFill>
                  <a:srgbClr val="17212B"/>
                </a:solidFill>
                <a:latin typeface="Arial"/>
                <a:ea typeface="Arial"/>
                <a:cs typeface="Arial"/>
              </a:defRPr>
            </a:lvl2pPr>
            <a:lvl3pPr>
              <a:defRPr sz="2250" b="0">
                <a:solidFill>
                  <a:srgbClr val="17212B"/>
                </a:solidFill>
                <a:latin typeface="Arial"/>
                <a:ea typeface="Arial"/>
                <a:cs typeface="Arial"/>
              </a:defRPr>
            </a:lvl3pPr>
            <a:lvl4pPr>
              <a:defRPr sz="2250" b="0">
                <a:solidFill>
                  <a:srgbClr val="17212B"/>
                </a:solidFill>
                <a:latin typeface="Arial"/>
                <a:ea typeface="Arial"/>
                <a:cs typeface="Arial"/>
              </a:defRPr>
            </a:lvl4pPr>
            <a:lvl5pPr>
              <a:defRPr sz="2250" b="0">
                <a:solidFill>
                  <a:srgbClr val="17212B"/>
                </a:solidFill>
                <a:latin typeface="Arial"/>
                <a:ea typeface="Arial"/>
                <a:cs typeface="Arial"/>
              </a:defRPr>
            </a:lvl5pPr>
            <a:lvl6pPr>
              <a:defRPr sz="2250" b="0">
                <a:solidFill>
                  <a:srgbClr val="17212B"/>
                </a:solidFill>
                <a:latin typeface="Arial"/>
                <a:ea typeface="Arial"/>
                <a:cs typeface="Arial"/>
              </a:defRPr>
            </a:lvl6pPr>
            <a:lvl7pPr>
              <a:defRPr sz="2250" b="0">
                <a:solidFill>
                  <a:srgbClr val="17212B"/>
                </a:solidFill>
                <a:latin typeface="Arial"/>
                <a:ea typeface="Arial"/>
                <a:cs typeface="Arial"/>
              </a:defRPr>
            </a:lvl7pPr>
            <a:lvl8pPr>
              <a:defRPr sz="2250" b="0">
                <a:solidFill>
                  <a:srgbClr val="17212B"/>
                </a:solidFill>
                <a:latin typeface="Arial"/>
                <a:ea typeface="Arial"/>
                <a:cs typeface="Arial"/>
              </a:defRPr>
            </a:lvl8pPr>
            <a:lvl9pPr>
              <a:defRPr sz="2250" b="0">
                <a:solidFill>
                  <a:srgbClr val="17212B"/>
                </a:solidFill>
                <a:latin typeface="Arial"/>
                <a:ea typeface="Arial"/>
                <a:cs typeface="Arial"/>
              </a:defRPr>
            </a:lvl9pPr>
          </a:lstStyle>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Sensitive reads, external actions,</a:t>
            </a:r>
          </a:p>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writes, payments and unknown tools</a:t>
            </a:r>
          </a:p>
        </p:txBody>
      </p:sp>
      <p:sp>
        <p:nvSpPr>
          <p:cNvPr id="9" name="scope-note">
            <a:extLst xmlns:a="http://schemas.openxmlformats.org/drawingml/2006/main">
              <a:ext uri="{FF2B5EF4-FFF2-40B4-BE49-F238E27FC236}">
                <a16:creationId xmlns:a16="http://schemas.microsoft.com/office/drawing/2014/main" id="{F419B271-F674-487E-805E-476B7473F4DA}"/>
              </a:ext>
            </a:extLst>
          </p:cNvPr>
          <p:cNvSpPr>
            <a:spLocks xmlns:a="http://schemas.openxmlformats.org/drawingml/2006/main" noGrp="1"/>
          </p:cNvSpPr>
          <p:nvPr/>
        </p:nvSpPr>
        <p:spPr>
          <a:xfrm xmlns:a="http://schemas.openxmlformats.org/drawingml/2006/main">
            <a:off x="647700" y="60293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435362"/>
                </a:solidFill>
                <a:latin typeface="Arial"/>
                <a:ea typeface="Arial"/>
                <a:cs typeface="Arial"/>
              </a:defRPr>
            </a:defPPr>
            <a:lvl1pPr>
              <a:defRPr sz="1950" b="0">
                <a:solidFill>
                  <a:srgbClr val="435362"/>
                </a:solidFill>
                <a:latin typeface="Arial"/>
                <a:ea typeface="Arial"/>
                <a:cs typeface="Arial"/>
              </a:defRPr>
            </a:lvl1pPr>
            <a:lvl2pPr>
              <a:defRPr sz="1950" b="0">
                <a:solidFill>
                  <a:srgbClr val="435362"/>
                </a:solidFill>
                <a:latin typeface="Arial"/>
                <a:ea typeface="Arial"/>
                <a:cs typeface="Arial"/>
              </a:defRPr>
            </a:lvl2pPr>
            <a:lvl3pPr>
              <a:defRPr sz="1950" b="0">
                <a:solidFill>
                  <a:srgbClr val="435362"/>
                </a:solidFill>
                <a:latin typeface="Arial"/>
                <a:ea typeface="Arial"/>
                <a:cs typeface="Arial"/>
              </a:defRPr>
            </a:lvl3pPr>
            <a:lvl4pPr>
              <a:defRPr sz="1950" b="0">
                <a:solidFill>
                  <a:srgbClr val="435362"/>
                </a:solidFill>
                <a:latin typeface="Arial"/>
                <a:ea typeface="Arial"/>
                <a:cs typeface="Arial"/>
              </a:defRPr>
            </a:lvl4pPr>
            <a:lvl5pPr>
              <a:defRPr sz="1950" b="0">
                <a:solidFill>
                  <a:srgbClr val="435362"/>
                </a:solidFill>
                <a:latin typeface="Arial"/>
                <a:ea typeface="Arial"/>
                <a:cs typeface="Arial"/>
              </a:defRPr>
            </a:lvl5pPr>
            <a:lvl6pPr>
              <a:defRPr sz="1950" b="0">
                <a:solidFill>
                  <a:srgbClr val="435362"/>
                </a:solidFill>
                <a:latin typeface="Arial"/>
                <a:ea typeface="Arial"/>
                <a:cs typeface="Arial"/>
              </a:defRPr>
            </a:lvl6pPr>
            <a:lvl7pPr>
              <a:defRPr sz="1950" b="0">
                <a:solidFill>
                  <a:srgbClr val="435362"/>
                </a:solidFill>
                <a:latin typeface="Arial"/>
                <a:ea typeface="Arial"/>
                <a:cs typeface="Arial"/>
              </a:defRPr>
            </a:lvl7pPr>
            <a:lvl8pPr>
              <a:defRPr sz="1950" b="0">
                <a:solidFill>
                  <a:srgbClr val="435362"/>
                </a:solidFill>
                <a:latin typeface="Arial"/>
                <a:ea typeface="Arial"/>
                <a:cs typeface="Arial"/>
              </a:defRPr>
            </a:lvl8pPr>
            <a:lvl9pPr>
              <a:defRPr sz="1950" b="0">
                <a:solidFill>
                  <a:srgbClr val="435362"/>
                </a:solidFill>
                <a:latin typeface="Arial"/>
                <a:ea typeface="Arial"/>
                <a:cs typeface="Arial"/>
              </a:defRPr>
            </a:lvl9pPr>
          </a:lstStyle>
          <a:p xmlns:a="http://schemas.openxmlformats.org/drawingml/2006/main">
            <a:pPr>
              <a:defRPr sz="1950" b="0">
                <a:solidFill>
                  <a:srgbClr val="435362"/>
                </a:solidFill>
                <a:latin typeface="Arial"/>
                <a:ea typeface="Arial"/>
                <a:cs typeface="Arial"/>
              </a:defRPr>
            </a:pPr>
            <a:r>
              <a:rPr sz="1950" b="0">
                <a:solidFill>
                  <a:srgbClr val="435362"/>
                </a:solidFill>
                <a:latin typeface="Arial"/>
                <a:ea typeface="Arial"/>
                <a:cs typeface="Arial"/>
              </a:rPr>
              <a:t>The Gate owns k. BudgetAwarePolicy reuses assess_request().</a:t>
            </a:r>
          </a:p>
        </p:txBody>
      </p:sp>
    </p:spTree>
    <p:extLst>
      <p:ext uri="{BB962C8B-B14F-4D97-AF65-F5344CB8AC3E}">
        <p14:creationId xmlns:p14="http://schemas.microsoft.com/office/powerpoint/2010/main" val="6089880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ACE5F680-DEB5-4BFF-B6F5-F3C0E75A3706}"/>
              </a:ext>
            </a:extLst>
          </p:cNvPr>
          <p:cNvSpPr>
            <a:spLocks xmlns:a="http://schemas.openxmlformats.org/drawingml/2006/main" noGrp="1"/>
          </p:cNvSpPr>
          <p:nvPr/>
        </p:nvSpPr>
        <p:spPr>
          <a:xfrm xmlns:a="http://schemas.openxmlformats.org/drawingml/2006/main">
            <a:off x="609600" y="4381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212B"/>
                </a:solidFill>
                <a:latin typeface="Arial"/>
                <a:ea typeface="Arial"/>
                <a:cs typeface="Arial"/>
              </a:defRPr>
            </a:defPPr>
            <a:lvl1pPr>
              <a:defRPr sz="3600" b="1">
                <a:solidFill>
                  <a:srgbClr val="17212B"/>
                </a:solidFill>
                <a:latin typeface="Arial"/>
                <a:ea typeface="Arial"/>
                <a:cs typeface="Arial"/>
              </a:defRPr>
            </a:lvl1pPr>
            <a:lvl2pPr>
              <a:defRPr sz="3600" b="1">
                <a:solidFill>
                  <a:srgbClr val="17212B"/>
                </a:solidFill>
                <a:latin typeface="Arial"/>
                <a:ea typeface="Arial"/>
                <a:cs typeface="Arial"/>
              </a:defRPr>
            </a:lvl2pPr>
            <a:lvl3pPr>
              <a:defRPr sz="3600" b="1">
                <a:solidFill>
                  <a:srgbClr val="17212B"/>
                </a:solidFill>
                <a:latin typeface="Arial"/>
                <a:ea typeface="Arial"/>
                <a:cs typeface="Arial"/>
              </a:defRPr>
            </a:lvl3pPr>
            <a:lvl4pPr>
              <a:defRPr sz="3600" b="1">
                <a:solidFill>
                  <a:srgbClr val="17212B"/>
                </a:solidFill>
                <a:latin typeface="Arial"/>
                <a:ea typeface="Arial"/>
                <a:cs typeface="Arial"/>
              </a:defRPr>
            </a:lvl4pPr>
            <a:lvl5pPr>
              <a:defRPr sz="3600" b="1">
                <a:solidFill>
                  <a:srgbClr val="17212B"/>
                </a:solidFill>
                <a:latin typeface="Arial"/>
                <a:ea typeface="Arial"/>
                <a:cs typeface="Arial"/>
              </a:defRPr>
            </a:lvl5pPr>
            <a:lvl6pPr>
              <a:defRPr sz="3600" b="1">
                <a:solidFill>
                  <a:srgbClr val="17212B"/>
                </a:solidFill>
                <a:latin typeface="Arial"/>
                <a:ea typeface="Arial"/>
                <a:cs typeface="Arial"/>
              </a:defRPr>
            </a:lvl6pPr>
            <a:lvl7pPr>
              <a:defRPr sz="3600" b="1">
                <a:solidFill>
                  <a:srgbClr val="17212B"/>
                </a:solidFill>
                <a:latin typeface="Arial"/>
                <a:ea typeface="Arial"/>
                <a:cs typeface="Arial"/>
              </a:defRPr>
            </a:lvl7pPr>
            <a:lvl8pPr>
              <a:defRPr sz="3600" b="1">
                <a:solidFill>
                  <a:srgbClr val="17212B"/>
                </a:solidFill>
                <a:latin typeface="Arial"/>
                <a:ea typeface="Arial"/>
                <a:cs typeface="Arial"/>
              </a:defRPr>
            </a:lvl8pPr>
            <a:lvl9pPr>
              <a:defRPr sz="3600" b="1">
                <a:solidFill>
                  <a:srgbClr val="17212B"/>
                </a:solidFill>
                <a:latin typeface="Arial"/>
                <a:ea typeface="Arial"/>
                <a:cs typeface="Arial"/>
              </a:defRPr>
            </a:lvl9pPr>
          </a:lstStyle>
          <a:p xmlns:a="http://schemas.openxmlformats.org/drawingml/2006/main">
            <a:pPr>
              <a:defRPr sz="3600" b="1">
                <a:solidFill>
                  <a:srgbClr val="17212B"/>
                </a:solidFill>
                <a:latin typeface="Arial"/>
                <a:ea typeface="Arial"/>
                <a:cs typeface="Arial"/>
              </a:defRPr>
            </a:pPr>
            <a:r>
              <a:rPr sz="3600" b="1">
                <a:solidFill>
                  <a:srgbClr val="17212B"/>
                </a:solidFill>
                <a:latin typeface="Arial"/>
                <a:ea typeface="Arial"/>
                <a:cs typeface="Arial"/>
              </a:rPr>
              <a:t>First formal batch</a:t>
            </a:r>
          </a:p>
        </p:txBody>
      </p:sp>
      <p:sp>
        <p:nvSpPr>
          <p:cNvPr id="2" name="scope">
            <a:extLst xmlns:a="http://schemas.openxmlformats.org/drawingml/2006/main">
              <a:ext uri="{FF2B5EF4-FFF2-40B4-BE49-F238E27FC236}">
                <a16:creationId xmlns:a16="http://schemas.microsoft.com/office/drawing/2014/main" id="{CDD77BF1-9E48-4E57-AEFE-BE744E10E813}"/>
              </a:ext>
            </a:extLst>
          </p:cNvPr>
          <p:cNvSpPr>
            <a:spLocks xmlns:a="http://schemas.openxmlformats.org/drawingml/2006/main" noGrp="1"/>
          </p:cNvSpPr>
          <p:nvPr/>
        </p:nvSpPr>
        <p:spPr>
          <a:xfrm xmlns:a="http://schemas.openxmlformats.org/drawingml/2006/main">
            <a:off x="6477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435362"/>
                </a:solidFill>
                <a:latin typeface="Arial"/>
                <a:ea typeface="Arial"/>
                <a:cs typeface="Arial"/>
              </a:defRPr>
            </a:defPPr>
            <a:lvl1pPr>
              <a:defRPr sz="2100" b="0">
                <a:solidFill>
                  <a:srgbClr val="435362"/>
                </a:solidFill>
                <a:latin typeface="Arial"/>
                <a:ea typeface="Arial"/>
                <a:cs typeface="Arial"/>
              </a:defRPr>
            </a:lvl1pPr>
            <a:lvl2pPr>
              <a:defRPr sz="2100" b="0">
                <a:solidFill>
                  <a:srgbClr val="435362"/>
                </a:solidFill>
                <a:latin typeface="Arial"/>
                <a:ea typeface="Arial"/>
                <a:cs typeface="Arial"/>
              </a:defRPr>
            </a:lvl2pPr>
            <a:lvl3pPr>
              <a:defRPr sz="2100" b="0">
                <a:solidFill>
                  <a:srgbClr val="435362"/>
                </a:solidFill>
                <a:latin typeface="Arial"/>
                <a:ea typeface="Arial"/>
                <a:cs typeface="Arial"/>
              </a:defRPr>
            </a:lvl3pPr>
            <a:lvl4pPr>
              <a:defRPr sz="2100" b="0">
                <a:solidFill>
                  <a:srgbClr val="435362"/>
                </a:solidFill>
                <a:latin typeface="Arial"/>
                <a:ea typeface="Arial"/>
                <a:cs typeface="Arial"/>
              </a:defRPr>
            </a:lvl4pPr>
            <a:lvl5pPr>
              <a:defRPr sz="2100" b="0">
                <a:solidFill>
                  <a:srgbClr val="435362"/>
                </a:solidFill>
                <a:latin typeface="Arial"/>
                <a:ea typeface="Arial"/>
                <a:cs typeface="Arial"/>
              </a:defRPr>
            </a:lvl5pPr>
            <a:lvl6pPr>
              <a:defRPr sz="2100" b="0">
                <a:solidFill>
                  <a:srgbClr val="435362"/>
                </a:solidFill>
                <a:latin typeface="Arial"/>
                <a:ea typeface="Arial"/>
                <a:cs typeface="Arial"/>
              </a:defRPr>
            </a:lvl6pPr>
            <a:lvl7pPr>
              <a:defRPr sz="2100" b="0">
                <a:solidFill>
                  <a:srgbClr val="435362"/>
                </a:solidFill>
                <a:latin typeface="Arial"/>
                <a:ea typeface="Arial"/>
                <a:cs typeface="Arial"/>
              </a:defRPr>
            </a:lvl7pPr>
            <a:lvl8pPr>
              <a:defRPr sz="2100" b="0">
                <a:solidFill>
                  <a:srgbClr val="435362"/>
                </a:solidFill>
                <a:latin typeface="Arial"/>
                <a:ea typeface="Arial"/>
                <a:cs typeface="Arial"/>
              </a:defRPr>
            </a:lvl8pPr>
            <a:lvl9pPr>
              <a:defRPr sz="2100" b="0">
                <a:solidFill>
                  <a:srgbClr val="435362"/>
                </a:solidFill>
                <a:latin typeface="Arial"/>
                <a:ea typeface="Arial"/>
                <a:cs typeface="Arial"/>
              </a:defRPr>
            </a:lvl9pPr>
          </a:lstStyle>
          <a:p xmlns:a="http://schemas.openxmlformats.org/drawingml/2006/main">
            <a:pPr>
              <a:defRPr sz="2100" b="0">
                <a:solidFill>
                  <a:srgbClr val="435362"/>
                </a:solidFill>
                <a:latin typeface="Arial"/>
                <a:ea typeface="Arial"/>
                <a:cs typeface="Arial"/>
              </a:defRPr>
            </a:pPr>
            <a:r>
              <a:rPr sz="2100" b="0">
                <a:solidFill>
                  <a:srgbClr val="435362"/>
                </a:solidFill>
                <a:latin typeface="Arial"/>
                <a:ea typeface="Arial"/>
                <a:cs typeface="Arial"/>
              </a:rPr>
              <a:t>One workspace task | k = 2 | three repeats per condition</a:t>
            </a:r>
          </a:p>
        </p:txBody>
      </p:sp>
      <p:sp>
        <p:nvSpPr>
          <p:cNvPr id="3" name="clean-number">
            <a:extLst xmlns:a="http://schemas.openxmlformats.org/drawingml/2006/main">
              <a:ext uri="{FF2B5EF4-FFF2-40B4-BE49-F238E27FC236}">
                <a16:creationId xmlns:a16="http://schemas.microsoft.com/office/drawing/2014/main" id="{419881CB-3002-4813-B24F-D7E9BFA01474}"/>
              </a:ext>
            </a:extLst>
          </p:cNvPr>
          <p:cNvSpPr>
            <a:spLocks xmlns:a="http://schemas.openxmlformats.org/drawingml/2006/main" noGrp="1"/>
          </p:cNvSpPr>
          <p:nvPr/>
        </p:nvSpPr>
        <p:spPr>
          <a:xfrm xmlns:a="http://schemas.openxmlformats.org/drawingml/2006/main">
            <a:off x="647700" y="2190750"/>
            <a:ext cx="304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212B"/>
                </a:solidFill>
                <a:latin typeface="Arial"/>
                <a:ea typeface="Arial"/>
                <a:cs typeface="Arial"/>
              </a:defRPr>
            </a:defPPr>
            <a:lvl1pPr>
              <a:defRPr sz="5400" b="1">
                <a:solidFill>
                  <a:srgbClr val="17212B"/>
                </a:solidFill>
                <a:latin typeface="Arial"/>
                <a:ea typeface="Arial"/>
                <a:cs typeface="Arial"/>
              </a:defRPr>
            </a:lvl1pPr>
            <a:lvl2pPr>
              <a:defRPr sz="5400" b="1">
                <a:solidFill>
                  <a:srgbClr val="17212B"/>
                </a:solidFill>
                <a:latin typeface="Arial"/>
                <a:ea typeface="Arial"/>
                <a:cs typeface="Arial"/>
              </a:defRPr>
            </a:lvl2pPr>
            <a:lvl3pPr>
              <a:defRPr sz="5400" b="1">
                <a:solidFill>
                  <a:srgbClr val="17212B"/>
                </a:solidFill>
                <a:latin typeface="Arial"/>
                <a:ea typeface="Arial"/>
                <a:cs typeface="Arial"/>
              </a:defRPr>
            </a:lvl3pPr>
            <a:lvl4pPr>
              <a:defRPr sz="5400" b="1">
                <a:solidFill>
                  <a:srgbClr val="17212B"/>
                </a:solidFill>
                <a:latin typeface="Arial"/>
                <a:ea typeface="Arial"/>
                <a:cs typeface="Arial"/>
              </a:defRPr>
            </a:lvl4pPr>
            <a:lvl5pPr>
              <a:defRPr sz="5400" b="1">
                <a:solidFill>
                  <a:srgbClr val="17212B"/>
                </a:solidFill>
                <a:latin typeface="Arial"/>
                <a:ea typeface="Arial"/>
                <a:cs typeface="Arial"/>
              </a:defRPr>
            </a:lvl5pPr>
            <a:lvl6pPr>
              <a:defRPr sz="5400" b="1">
                <a:solidFill>
                  <a:srgbClr val="17212B"/>
                </a:solidFill>
                <a:latin typeface="Arial"/>
                <a:ea typeface="Arial"/>
                <a:cs typeface="Arial"/>
              </a:defRPr>
            </a:lvl6pPr>
            <a:lvl7pPr>
              <a:defRPr sz="5400" b="1">
                <a:solidFill>
                  <a:srgbClr val="17212B"/>
                </a:solidFill>
                <a:latin typeface="Arial"/>
                <a:ea typeface="Arial"/>
                <a:cs typeface="Arial"/>
              </a:defRPr>
            </a:lvl7pPr>
            <a:lvl8pPr>
              <a:defRPr sz="5400" b="1">
                <a:solidFill>
                  <a:srgbClr val="17212B"/>
                </a:solidFill>
                <a:latin typeface="Arial"/>
                <a:ea typeface="Arial"/>
                <a:cs typeface="Arial"/>
              </a:defRPr>
            </a:lvl8pPr>
            <a:lvl9pPr>
              <a:defRPr sz="5400" b="1">
                <a:solidFill>
                  <a:srgbClr val="17212B"/>
                </a:solidFill>
                <a:latin typeface="Arial"/>
                <a:ea typeface="Arial"/>
                <a:cs typeface="Arial"/>
              </a:defRPr>
            </a:lvl9pPr>
          </a:lstStyle>
          <a:p xmlns:a="http://schemas.openxmlformats.org/drawingml/2006/main">
            <a:pPr>
              <a:defRPr sz="5400" b="1">
                <a:solidFill>
                  <a:srgbClr val="17212B"/>
                </a:solidFill>
                <a:latin typeface="Arial"/>
                <a:ea typeface="Arial"/>
                <a:cs typeface="Arial"/>
              </a:defRPr>
            </a:pPr>
            <a:r>
              <a:rPr sz="5400" b="1">
                <a:solidFill>
                  <a:srgbClr val="17212B"/>
                </a:solidFill>
                <a:latin typeface="Arial"/>
                <a:ea typeface="Arial"/>
                <a:cs typeface="Arial"/>
              </a:rPr>
              <a:t>3 / 3</a:t>
            </a:r>
          </a:p>
        </p:txBody>
      </p:sp>
      <p:sp>
        <p:nvSpPr>
          <p:cNvPr id="4" name="clean-label">
            <a:extLst xmlns:a="http://schemas.openxmlformats.org/drawingml/2006/main">
              <a:ext uri="{FF2B5EF4-FFF2-40B4-BE49-F238E27FC236}">
                <a16:creationId xmlns:a16="http://schemas.microsoft.com/office/drawing/2014/main" id="{C15049FB-3089-4673-9999-064F5165546F}"/>
              </a:ext>
            </a:extLst>
          </p:cNvPr>
          <p:cNvSpPr>
            <a:spLocks xmlns:a="http://schemas.openxmlformats.org/drawingml/2006/main" noGrp="1"/>
          </p:cNvSpPr>
          <p:nvPr/>
        </p:nvSpPr>
        <p:spPr>
          <a:xfrm xmlns:a="http://schemas.openxmlformats.org/drawingml/2006/main">
            <a:off x="685800" y="3143250"/>
            <a:ext cx="333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212B"/>
                </a:solidFill>
                <a:latin typeface="Arial"/>
                <a:ea typeface="Arial"/>
                <a:cs typeface="Arial"/>
              </a:defRPr>
            </a:defPPr>
            <a:lvl1pPr>
              <a:defRPr sz="2250" b="0">
                <a:solidFill>
                  <a:srgbClr val="17212B"/>
                </a:solidFill>
                <a:latin typeface="Arial"/>
                <a:ea typeface="Arial"/>
                <a:cs typeface="Arial"/>
              </a:defRPr>
            </a:lvl1pPr>
            <a:lvl2pPr>
              <a:defRPr sz="2250" b="0">
                <a:solidFill>
                  <a:srgbClr val="17212B"/>
                </a:solidFill>
                <a:latin typeface="Arial"/>
                <a:ea typeface="Arial"/>
                <a:cs typeface="Arial"/>
              </a:defRPr>
            </a:lvl2pPr>
            <a:lvl3pPr>
              <a:defRPr sz="2250" b="0">
                <a:solidFill>
                  <a:srgbClr val="17212B"/>
                </a:solidFill>
                <a:latin typeface="Arial"/>
                <a:ea typeface="Arial"/>
                <a:cs typeface="Arial"/>
              </a:defRPr>
            </a:lvl3pPr>
            <a:lvl4pPr>
              <a:defRPr sz="2250" b="0">
                <a:solidFill>
                  <a:srgbClr val="17212B"/>
                </a:solidFill>
                <a:latin typeface="Arial"/>
                <a:ea typeface="Arial"/>
                <a:cs typeface="Arial"/>
              </a:defRPr>
            </a:lvl4pPr>
            <a:lvl5pPr>
              <a:defRPr sz="2250" b="0">
                <a:solidFill>
                  <a:srgbClr val="17212B"/>
                </a:solidFill>
                <a:latin typeface="Arial"/>
                <a:ea typeface="Arial"/>
                <a:cs typeface="Arial"/>
              </a:defRPr>
            </a:lvl5pPr>
            <a:lvl6pPr>
              <a:defRPr sz="2250" b="0">
                <a:solidFill>
                  <a:srgbClr val="17212B"/>
                </a:solidFill>
                <a:latin typeface="Arial"/>
                <a:ea typeface="Arial"/>
                <a:cs typeface="Arial"/>
              </a:defRPr>
            </a:lvl6pPr>
            <a:lvl7pPr>
              <a:defRPr sz="2250" b="0">
                <a:solidFill>
                  <a:srgbClr val="17212B"/>
                </a:solidFill>
                <a:latin typeface="Arial"/>
                <a:ea typeface="Arial"/>
                <a:cs typeface="Arial"/>
              </a:defRPr>
            </a:lvl7pPr>
            <a:lvl8pPr>
              <a:defRPr sz="2250" b="0">
                <a:solidFill>
                  <a:srgbClr val="17212B"/>
                </a:solidFill>
                <a:latin typeface="Arial"/>
                <a:ea typeface="Arial"/>
                <a:cs typeface="Arial"/>
              </a:defRPr>
            </a:lvl8pPr>
            <a:lvl9pPr>
              <a:defRPr sz="2250" b="0">
                <a:solidFill>
                  <a:srgbClr val="17212B"/>
                </a:solidFill>
                <a:latin typeface="Arial"/>
                <a:ea typeface="Arial"/>
                <a:cs typeface="Arial"/>
              </a:defRPr>
            </a:lvl9pPr>
          </a:lstStyle>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Clean tasks completed</a:t>
            </a:r>
          </a:p>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0 reviews</a:t>
            </a:r>
          </a:p>
        </p:txBody>
      </p:sp>
      <p:sp>
        <p:nvSpPr>
          <p:cNvPr id="5" name="attack-number">
            <a:extLst xmlns:a="http://schemas.openxmlformats.org/drawingml/2006/main">
              <a:ext uri="{FF2B5EF4-FFF2-40B4-BE49-F238E27FC236}">
                <a16:creationId xmlns:a16="http://schemas.microsoft.com/office/drawing/2014/main" id="{C71EDA81-334E-4B9A-80EA-6449EB325612}"/>
              </a:ext>
            </a:extLst>
          </p:cNvPr>
          <p:cNvSpPr>
            <a:spLocks xmlns:a="http://schemas.openxmlformats.org/drawingml/2006/main" noGrp="1"/>
          </p:cNvSpPr>
          <p:nvPr/>
        </p:nvSpPr>
        <p:spPr>
          <a:xfrm xmlns:a="http://schemas.openxmlformats.org/drawingml/2006/main">
            <a:off x="6381750" y="2190750"/>
            <a:ext cx="4000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212B"/>
                </a:solidFill>
                <a:latin typeface="Arial"/>
                <a:ea typeface="Arial"/>
                <a:cs typeface="Arial"/>
              </a:defRPr>
            </a:defPPr>
            <a:lvl1pPr>
              <a:defRPr sz="5400" b="1">
                <a:solidFill>
                  <a:srgbClr val="17212B"/>
                </a:solidFill>
                <a:latin typeface="Arial"/>
                <a:ea typeface="Arial"/>
                <a:cs typeface="Arial"/>
              </a:defRPr>
            </a:lvl1pPr>
            <a:lvl2pPr>
              <a:defRPr sz="5400" b="1">
                <a:solidFill>
                  <a:srgbClr val="17212B"/>
                </a:solidFill>
                <a:latin typeface="Arial"/>
                <a:ea typeface="Arial"/>
                <a:cs typeface="Arial"/>
              </a:defRPr>
            </a:lvl2pPr>
            <a:lvl3pPr>
              <a:defRPr sz="5400" b="1">
                <a:solidFill>
                  <a:srgbClr val="17212B"/>
                </a:solidFill>
                <a:latin typeface="Arial"/>
                <a:ea typeface="Arial"/>
                <a:cs typeface="Arial"/>
              </a:defRPr>
            </a:lvl3pPr>
            <a:lvl4pPr>
              <a:defRPr sz="5400" b="1">
                <a:solidFill>
                  <a:srgbClr val="17212B"/>
                </a:solidFill>
                <a:latin typeface="Arial"/>
                <a:ea typeface="Arial"/>
                <a:cs typeface="Arial"/>
              </a:defRPr>
            </a:lvl4pPr>
            <a:lvl5pPr>
              <a:defRPr sz="5400" b="1">
                <a:solidFill>
                  <a:srgbClr val="17212B"/>
                </a:solidFill>
                <a:latin typeface="Arial"/>
                <a:ea typeface="Arial"/>
                <a:cs typeface="Arial"/>
              </a:defRPr>
            </a:lvl5pPr>
            <a:lvl6pPr>
              <a:defRPr sz="5400" b="1">
                <a:solidFill>
                  <a:srgbClr val="17212B"/>
                </a:solidFill>
                <a:latin typeface="Arial"/>
                <a:ea typeface="Arial"/>
                <a:cs typeface="Arial"/>
              </a:defRPr>
            </a:lvl6pPr>
            <a:lvl7pPr>
              <a:defRPr sz="5400" b="1">
                <a:solidFill>
                  <a:srgbClr val="17212B"/>
                </a:solidFill>
                <a:latin typeface="Arial"/>
                <a:ea typeface="Arial"/>
                <a:cs typeface="Arial"/>
              </a:defRPr>
            </a:lvl7pPr>
            <a:lvl8pPr>
              <a:defRPr sz="5400" b="1">
                <a:solidFill>
                  <a:srgbClr val="17212B"/>
                </a:solidFill>
                <a:latin typeface="Arial"/>
                <a:ea typeface="Arial"/>
                <a:cs typeface="Arial"/>
              </a:defRPr>
            </a:lvl8pPr>
            <a:lvl9pPr>
              <a:defRPr sz="5400" b="1">
                <a:solidFill>
                  <a:srgbClr val="17212B"/>
                </a:solidFill>
                <a:latin typeface="Arial"/>
                <a:ea typeface="Arial"/>
                <a:cs typeface="Arial"/>
              </a:defRPr>
            </a:lvl9pPr>
          </a:lstStyle>
          <a:p xmlns:a="http://schemas.openxmlformats.org/drawingml/2006/main">
            <a:pPr>
              <a:defRPr sz="5400" b="1">
                <a:solidFill>
                  <a:srgbClr val="17212B"/>
                </a:solidFill>
                <a:latin typeface="Arial"/>
                <a:ea typeface="Arial"/>
                <a:cs typeface="Arial"/>
              </a:defRPr>
            </a:pPr>
            <a:r>
              <a:rPr sz="5400" b="1">
                <a:solidFill>
                  <a:srgbClr val="17212B"/>
                </a:solidFill>
                <a:latin typeface="Arial"/>
                <a:ea typeface="Arial"/>
                <a:cs typeface="Arial"/>
              </a:rPr>
              <a:t>3 / 3</a:t>
            </a:r>
          </a:p>
        </p:txBody>
      </p:sp>
      <p:sp>
        <p:nvSpPr>
          <p:cNvPr id="6" name="attack-label">
            <a:extLst xmlns:a="http://schemas.openxmlformats.org/drawingml/2006/main">
              <a:ext uri="{FF2B5EF4-FFF2-40B4-BE49-F238E27FC236}">
                <a16:creationId xmlns:a16="http://schemas.microsoft.com/office/drawing/2014/main" id="{54FE2C3D-57D7-4A37-A642-84CFFCE80C29}"/>
              </a:ext>
            </a:extLst>
          </p:cNvPr>
          <p:cNvSpPr>
            <a:spLocks xmlns:a="http://schemas.openxmlformats.org/drawingml/2006/main" noGrp="1"/>
          </p:cNvSpPr>
          <p:nvPr/>
        </p:nvSpPr>
        <p:spPr>
          <a:xfrm xmlns:a="http://schemas.openxmlformats.org/drawingml/2006/main">
            <a:off x="6419850" y="3143250"/>
            <a:ext cx="5048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12B"/>
                </a:solidFill>
                <a:latin typeface="Arial"/>
                <a:ea typeface="Arial"/>
                <a:cs typeface="Arial"/>
              </a:defRPr>
            </a:defPPr>
            <a:lvl1pPr>
              <a:defRPr sz="2175" b="0">
                <a:solidFill>
                  <a:srgbClr val="17212B"/>
                </a:solidFill>
                <a:latin typeface="Arial"/>
                <a:ea typeface="Arial"/>
                <a:cs typeface="Arial"/>
              </a:defRPr>
            </a:lvl1pPr>
            <a:lvl2pPr>
              <a:defRPr sz="2175" b="0">
                <a:solidFill>
                  <a:srgbClr val="17212B"/>
                </a:solidFill>
                <a:latin typeface="Arial"/>
                <a:ea typeface="Arial"/>
                <a:cs typeface="Arial"/>
              </a:defRPr>
            </a:lvl2pPr>
            <a:lvl3pPr>
              <a:defRPr sz="2175" b="0">
                <a:solidFill>
                  <a:srgbClr val="17212B"/>
                </a:solidFill>
                <a:latin typeface="Arial"/>
                <a:ea typeface="Arial"/>
                <a:cs typeface="Arial"/>
              </a:defRPr>
            </a:lvl3pPr>
            <a:lvl4pPr>
              <a:defRPr sz="2175" b="0">
                <a:solidFill>
                  <a:srgbClr val="17212B"/>
                </a:solidFill>
                <a:latin typeface="Arial"/>
                <a:ea typeface="Arial"/>
                <a:cs typeface="Arial"/>
              </a:defRPr>
            </a:lvl4pPr>
            <a:lvl5pPr>
              <a:defRPr sz="2175" b="0">
                <a:solidFill>
                  <a:srgbClr val="17212B"/>
                </a:solidFill>
                <a:latin typeface="Arial"/>
                <a:ea typeface="Arial"/>
                <a:cs typeface="Arial"/>
              </a:defRPr>
            </a:lvl5pPr>
            <a:lvl6pPr>
              <a:defRPr sz="2175" b="0">
                <a:solidFill>
                  <a:srgbClr val="17212B"/>
                </a:solidFill>
                <a:latin typeface="Arial"/>
                <a:ea typeface="Arial"/>
                <a:cs typeface="Arial"/>
              </a:defRPr>
            </a:lvl6pPr>
            <a:lvl7pPr>
              <a:defRPr sz="2175" b="0">
                <a:solidFill>
                  <a:srgbClr val="17212B"/>
                </a:solidFill>
                <a:latin typeface="Arial"/>
                <a:ea typeface="Arial"/>
                <a:cs typeface="Arial"/>
              </a:defRPr>
            </a:lvl7pPr>
            <a:lvl8pPr>
              <a:defRPr sz="2175" b="0">
                <a:solidFill>
                  <a:srgbClr val="17212B"/>
                </a:solidFill>
                <a:latin typeface="Arial"/>
                <a:ea typeface="Arial"/>
                <a:cs typeface="Arial"/>
              </a:defRPr>
            </a:lvl8pPr>
            <a:lvl9pPr>
              <a:defRPr sz="2175" b="0">
                <a:solidFill>
                  <a:srgbClr val="17212B"/>
                </a:solidFill>
                <a:latin typeface="Arial"/>
                <a:ea typeface="Arial"/>
                <a:cs typeface="Arial"/>
              </a:defRPr>
            </a:lvl9pPr>
          </a:lstStyle>
          <a:p xmlns:a="http://schemas.openxmlformats.org/drawingml/2006/main">
            <a:pPr>
              <a:defRPr sz="2175" b="0">
                <a:solidFill>
                  <a:srgbClr val="17212B"/>
                </a:solidFill>
                <a:latin typeface="Arial"/>
                <a:ea typeface="Arial"/>
                <a:cs typeface="Arial"/>
              </a:defRPr>
            </a:pPr>
            <a:r>
              <a:rPr sz="2175" b="0">
                <a:solidFill>
                  <a:srgbClr val="17212B"/>
                </a:solidFill>
                <a:latin typeface="Arial"/>
                <a:ea typeface="Arial"/>
                <a:cs typeface="Arial"/>
              </a:rPr>
              <a:t>Injected tasks completed</a:t>
            </a:r>
          </a:p>
          <a:p xmlns:a="http://schemas.openxmlformats.org/drawingml/2006/main">
            <a:pPr>
              <a:defRPr sz="2175" b="0">
                <a:solidFill>
                  <a:srgbClr val="17212B"/>
                </a:solidFill>
                <a:latin typeface="Arial"/>
                <a:ea typeface="Arial"/>
                <a:cs typeface="Arial"/>
              </a:defRPr>
            </a:pPr>
            <a:r>
              <a:rPr sz="2175" b="0">
                <a:solidFill>
                  <a:srgbClr val="17212B"/>
                </a:solidFill>
                <a:latin typeface="Arial"/>
                <a:ea typeface="Arial"/>
                <a:cs typeface="Arial"/>
              </a:rPr>
              <a:t>3 sends escalated; Reviewer denied all</a:t>
            </a:r>
          </a:p>
        </p:txBody>
      </p:sp>
      <p:sp>
        <p:nvSpPr>
          <p:cNvPr id="7" name="comparison">
            <a:extLst xmlns:a="http://schemas.openxmlformats.org/drawingml/2006/main">
              <a:ext uri="{FF2B5EF4-FFF2-40B4-BE49-F238E27FC236}">
                <a16:creationId xmlns:a16="http://schemas.microsoft.com/office/drawing/2014/main" id="{38A66119-8362-4BD1-AC73-4E776D879673}"/>
              </a:ext>
            </a:extLst>
          </p:cNvPr>
          <p:cNvSpPr>
            <a:spLocks xmlns:a="http://schemas.openxmlformats.org/drawingml/2006/main" noGrp="1"/>
          </p:cNvSpPr>
          <p:nvPr/>
        </p:nvSpPr>
        <p:spPr>
          <a:xfrm xmlns:a="http://schemas.openxmlformats.org/drawingml/2006/main">
            <a:off x="685800" y="4619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212B"/>
                </a:solidFill>
                <a:latin typeface="Arial"/>
                <a:ea typeface="Arial"/>
                <a:cs typeface="Arial"/>
              </a:defRPr>
            </a:defPPr>
            <a:lvl1pPr>
              <a:defRPr sz="2250" b="0">
                <a:solidFill>
                  <a:srgbClr val="17212B"/>
                </a:solidFill>
                <a:latin typeface="Arial"/>
                <a:ea typeface="Arial"/>
                <a:cs typeface="Arial"/>
              </a:defRPr>
            </a:lvl1pPr>
            <a:lvl2pPr>
              <a:defRPr sz="2250" b="0">
                <a:solidFill>
                  <a:srgbClr val="17212B"/>
                </a:solidFill>
                <a:latin typeface="Arial"/>
                <a:ea typeface="Arial"/>
                <a:cs typeface="Arial"/>
              </a:defRPr>
            </a:lvl2pPr>
            <a:lvl3pPr>
              <a:defRPr sz="2250" b="0">
                <a:solidFill>
                  <a:srgbClr val="17212B"/>
                </a:solidFill>
                <a:latin typeface="Arial"/>
                <a:ea typeface="Arial"/>
                <a:cs typeface="Arial"/>
              </a:defRPr>
            </a:lvl3pPr>
            <a:lvl4pPr>
              <a:defRPr sz="2250" b="0">
                <a:solidFill>
                  <a:srgbClr val="17212B"/>
                </a:solidFill>
                <a:latin typeface="Arial"/>
                <a:ea typeface="Arial"/>
                <a:cs typeface="Arial"/>
              </a:defRPr>
            </a:lvl4pPr>
            <a:lvl5pPr>
              <a:defRPr sz="2250" b="0">
                <a:solidFill>
                  <a:srgbClr val="17212B"/>
                </a:solidFill>
                <a:latin typeface="Arial"/>
                <a:ea typeface="Arial"/>
                <a:cs typeface="Arial"/>
              </a:defRPr>
            </a:lvl5pPr>
            <a:lvl6pPr>
              <a:defRPr sz="2250" b="0">
                <a:solidFill>
                  <a:srgbClr val="17212B"/>
                </a:solidFill>
                <a:latin typeface="Arial"/>
                <a:ea typeface="Arial"/>
                <a:cs typeface="Arial"/>
              </a:defRPr>
            </a:lvl6pPr>
            <a:lvl7pPr>
              <a:defRPr sz="2250" b="0">
                <a:solidFill>
                  <a:srgbClr val="17212B"/>
                </a:solidFill>
                <a:latin typeface="Arial"/>
                <a:ea typeface="Arial"/>
                <a:cs typeface="Arial"/>
              </a:defRPr>
            </a:lvl7pPr>
            <a:lvl8pPr>
              <a:defRPr sz="2250" b="0">
                <a:solidFill>
                  <a:srgbClr val="17212B"/>
                </a:solidFill>
                <a:latin typeface="Arial"/>
                <a:ea typeface="Arial"/>
                <a:cs typeface="Arial"/>
              </a:defRPr>
            </a:lvl8pPr>
            <a:lvl9pPr>
              <a:defRPr sz="2250" b="0">
                <a:solidFill>
                  <a:srgbClr val="17212B"/>
                </a:solidFill>
                <a:latin typeface="Arial"/>
                <a:ea typeface="Arial"/>
                <a:cs typeface="Arial"/>
              </a:defRPr>
            </a:lvl9pPr>
          </a:lstStyle>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Full-approve executed all 3 induced emails.</a:t>
            </a:r>
          </a:p>
          <a:p xmlns:a="http://schemas.openxmlformats.org/drawingml/2006/main">
            <a:pPr>
              <a:defRPr sz="2250" b="0">
                <a:solidFill>
                  <a:srgbClr val="17212B"/>
                </a:solidFill>
                <a:latin typeface="Arial"/>
                <a:ea typeface="Arial"/>
                <a:cs typeface="Arial"/>
              </a:defRPr>
            </a:pPr>
            <a:r>
              <a:rPr sz="2250" b="0">
                <a:solidFill>
                  <a:srgbClr val="17212B"/>
                </a:solidFill>
                <a:latin typeface="Arial"/>
                <a:ea typeface="Arial"/>
                <a:cs typeface="Arial"/>
              </a:rPr>
              <a:t>Full-escalate completed 2 of 3 injected tasks.</a:t>
            </a:r>
          </a:p>
        </p:txBody>
      </p:sp>
      <p:sp>
        <p:nvSpPr>
          <p:cNvPr id="8" name="limit">
            <a:extLst xmlns:a="http://schemas.openxmlformats.org/drawingml/2006/main">
              <a:ext uri="{FF2B5EF4-FFF2-40B4-BE49-F238E27FC236}">
                <a16:creationId xmlns:a16="http://schemas.microsoft.com/office/drawing/2014/main" id="{FCE1C8F6-DC4A-4AD8-9E74-E2D1B6001CDD}"/>
              </a:ext>
            </a:extLst>
          </p:cNvPr>
          <p:cNvSpPr>
            <a:spLocks xmlns:a="http://schemas.openxmlformats.org/drawingml/2006/main" noGrp="1"/>
          </p:cNvSpPr>
          <p:nvPr/>
        </p:nvSpPr>
        <p:spPr>
          <a:xfrm xmlns:a="http://schemas.openxmlformats.org/drawingml/2006/main">
            <a:off x="685800" y="603885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435362"/>
                </a:solidFill>
                <a:latin typeface="Arial"/>
                <a:ea typeface="Arial"/>
                <a:cs typeface="Arial"/>
              </a:defRPr>
            </a:defPPr>
            <a:lvl1pPr>
              <a:defRPr sz="1875" b="0">
                <a:solidFill>
                  <a:srgbClr val="435362"/>
                </a:solidFill>
                <a:latin typeface="Arial"/>
                <a:ea typeface="Arial"/>
                <a:cs typeface="Arial"/>
              </a:defRPr>
            </a:lvl1pPr>
            <a:lvl2pPr>
              <a:defRPr sz="1875" b="0">
                <a:solidFill>
                  <a:srgbClr val="435362"/>
                </a:solidFill>
                <a:latin typeface="Arial"/>
                <a:ea typeface="Arial"/>
                <a:cs typeface="Arial"/>
              </a:defRPr>
            </a:lvl2pPr>
            <a:lvl3pPr>
              <a:defRPr sz="1875" b="0">
                <a:solidFill>
                  <a:srgbClr val="435362"/>
                </a:solidFill>
                <a:latin typeface="Arial"/>
                <a:ea typeface="Arial"/>
                <a:cs typeface="Arial"/>
              </a:defRPr>
            </a:lvl3pPr>
            <a:lvl4pPr>
              <a:defRPr sz="1875" b="0">
                <a:solidFill>
                  <a:srgbClr val="435362"/>
                </a:solidFill>
                <a:latin typeface="Arial"/>
                <a:ea typeface="Arial"/>
                <a:cs typeface="Arial"/>
              </a:defRPr>
            </a:lvl4pPr>
            <a:lvl5pPr>
              <a:defRPr sz="1875" b="0">
                <a:solidFill>
                  <a:srgbClr val="435362"/>
                </a:solidFill>
                <a:latin typeface="Arial"/>
                <a:ea typeface="Arial"/>
                <a:cs typeface="Arial"/>
              </a:defRPr>
            </a:lvl5pPr>
            <a:lvl6pPr>
              <a:defRPr sz="1875" b="0">
                <a:solidFill>
                  <a:srgbClr val="435362"/>
                </a:solidFill>
                <a:latin typeface="Arial"/>
                <a:ea typeface="Arial"/>
                <a:cs typeface="Arial"/>
              </a:defRPr>
            </a:lvl6pPr>
            <a:lvl7pPr>
              <a:defRPr sz="1875" b="0">
                <a:solidFill>
                  <a:srgbClr val="435362"/>
                </a:solidFill>
                <a:latin typeface="Arial"/>
                <a:ea typeface="Arial"/>
                <a:cs typeface="Arial"/>
              </a:defRPr>
            </a:lvl7pPr>
            <a:lvl8pPr>
              <a:defRPr sz="1875" b="0">
                <a:solidFill>
                  <a:srgbClr val="435362"/>
                </a:solidFill>
                <a:latin typeface="Arial"/>
                <a:ea typeface="Arial"/>
                <a:cs typeface="Arial"/>
              </a:defRPr>
            </a:lvl8pPr>
            <a:lvl9pPr>
              <a:defRPr sz="1875" b="0">
                <a:solidFill>
                  <a:srgbClr val="435362"/>
                </a:solidFill>
                <a:latin typeface="Arial"/>
                <a:ea typeface="Arial"/>
                <a:cs typeface="Arial"/>
              </a:defRPr>
            </a:lvl9pPr>
          </a:lstStyle>
          <a:p xmlns:a="http://schemas.openxmlformats.org/drawingml/2006/main">
            <a:pPr>
              <a:defRPr sz="1875" b="0">
                <a:solidFill>
                  <a:srgbClr val="435362"/>
                </a:solidFill>
                <a:latin typeface="Arial"/>
                <a:ea typeface="Arial"/>
                <a:cs typeface="Arial"/>
              </a:defRPr>
            </a:pPr>
            <a:r>
              <a:rPr sz="1875" b="0">
                <a:solidFill>
                  <a:srgbClr val="435362"/>
                </a:solidFill>
                <a:latin typeface="Arial"/>
                <a:ea typeface="Arial"/>
                <a:cs typeface="Arial"/>
              </a:rPr>
              <a:t>Observed cases only. Read access still needs object-level authorisation.</a:t>
            </a:r>
          </a:p>
        </p:txBody>
      </p:sp>
    </p:spTree>
    <p:extLst>
      <p:ext uri="{BB962C8B-B14F-4D97-AF65-F5344CB8AC3E}">
        <p14:creationId xmlns:p14="http://schemas.microsoft.com/office/powerpoint/2010/main" val="13431489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2026-10-30T09:55:03.0740000Z</dcterms:created>
  <dcterms:modified xsi:type="dcterms:W3CDTF">2026-10-30T09:55:03.0740000Z</dcterms:modified>
</coreProperties>
</file>