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aa6f52a65a64d8a" /><Relationship Type="http://schemas.openxmlformats.org/officeDocument/2006/relationships/extended-properties" Target="/docProps/app.xml" Id="R59c82c05cecf4ad2" /><Relationship Type="http://schemas.openxmlformats.org/officeDocument/2006/relationships/officeDocument" Target="/ppt/presentation.xml" Id="R7b2fa7bf717b4c4e" /></Relationships>
</file>

<file path=ppt/presentation.xml><?xml version="1.0" encoding="utf-8"?>
<p:presentation xmlns:p="http://schemas.openxmlformats.org/presentationml/2006/main">
  <p:sldMasterIdLst>
    <p:sldMasterId xmlns:r="http://schemas.openxmlformats.org/officeDocument/2006/relationships" id="2147483648" r:id="R2d2ac3a37cf34a0e"/>
  </p:sldMasterIdLst>
  <p:notesMasterIdLst>
    <p:notesMasterId xmlns:r="http://schemas.openxmlformats.org/officeDocument/2006/relationships" r:id="R0b361a927ee348c9"/>
  </p:notesMasterIdLst>
  <p:sldIdLst>
    <p:sldId xmlns:r="http://schemas.openxmlformats.org/officeDocument/2006/relationships" id="256" r:id="Rf41285edaa474c6d"/>
    <p:sldId xmlns:r="http://schemas.openxmlformats.org/officeDocument/2006/relationships" id="257" r:id="R6f0efc46034f45b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7aada91e2124d4c" /><Relationship Type="http://schemas.openxmlformats.org/officeDocument/2006/relationships/slideMaster" Target="/ppt/slideMasters/slideMaster1.xml" Id="R2d2ac3a37cf34a0e" /><Relationship Type="http://schemas.openxmlformats.org/officeDocument/2006/relationships/notesMaster" Target="/ppt/notesMasters/notesMaster1.xml" Id="R0b361a927ee348c9" /><Relationship Type="http://schemas.openxmlformats.org/officeDocument/2006/relationships/presProps" Target="/ppt/presProps.xml" Id="R0f931f4c1d704234" /><Relationship Type="http://schemas.openxmlformats.org/officeDocument/2006/relationships/tableStyles" Target="/ppt/tableStyles.xml" Id="Rdb39ca9bd0af452d" /><Relationship Type="http://schemas.openxmlformats.org/officeDocument/2006/relationships/slide" Target="/ppt/slides/slide1.xml" Id="Rf41285edaa474c6d" /><Relationship Type="http://schemas.openxmlformats.org/officeDocument/2006/relationships/slide" Target="/ppt/slides/slide2.xml" Id="R6f0efc46034f45b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d54e0ed65404b1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ef8f192a0ab49d4" /><Relationship Type="http://schemas.openxmlformats.org/officeDocument/2006/relationships/notesMaster" Target="/ppt/notesMasters/notesMaster1.xml" Id="R442995847ea44ec3" /></Relationships>
</file>

<file path=ppt/notesSlides/_rels/notesSlide2.xml.rels>&#65279;<?xml version="1.0" encoding="utf-8"?><Relationships xmlns="http://schemas.openxmlformats.org/package/2006/relationships"><Relationship Type="http://schemas.openxmlformats.org/officeDocument/2006/relationships/slide" Target="/ppt/slides/slide2.xml" Id="R322d8a2b6c1c427c" /><Relationship Type="http://schemas.openxmlformats.org/officeDocument/2006/relationships/notesMaster" Target="/ppt/notesMasters/notesMaster1.xml" Id="Rc510a9b6916245d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part is the risk-based approval policy. It returns approve, deny, or escalate before a tool call runs. The gate manages the review budget, so my policy never deducts it.</a:t>
            </a:r>
          </a:p>
          <a:p xmlns:a="http://schemas.openxmlformats.org/drawingml/2006/main">
            <a:r>
              <a:t/>
            </a:r>
          </a:p>
          <a:p xmlns:a="http://schemas.openxmlformats.org/drawingml/2006/main">
            <a:r>
              <a:t>I classify tools by their effects. Known local queries may run directly. Sending, sharing, payments, deletion, and account changes need review. For example, getting unread emails also marks them as read, so I do not treat that tool as a harmless query.</a:t>
            </a:r>
          </a:p>
          <a:p xmlns:a="http://schemas.openxmlformats.org/drawingml/2006/main">
            <a:r>
              <a:t/>
            </a:r>
          </a:p>
          <a:p xmlns:a="http://schemas.openxmlformats.org/drawingml/2006/main">
            <a:r>
              <a:t>I added checks for explicit user restrictions. A supported instruction such as Do not send emails blocks a conflicting call. A single-recipient restriction also checks cc and bcc. Matching a restriction does not automatically approve a write. Unclear cases still need review.</a:t>
            </a:r>
          </a:p>
          <a:p xmlns:a="http://schemas.openxmlformats.org/drawingml/2006/main">
            <a:r>
              <a:t/>
            </a:r>
          </a:p>
          <a:p xmlns:a="http://schemas.openxmlformats.org/drawingml/2006/main">
            <a:r>
              <a:t>Sources: PE6203 Case 2 handout, secs. 2–3; AgentDojo email_client.py at commit 089ed468cf3ed0322acc66b0211f26d9d90dbf60; approval_gate/policies/basic_risk.py.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repository passes 117 tests. The gate tests confirm that budgets are shared across turns and reset per task. At zero budget, an escalation is denied without calling the reviewer, while an approved query can still run.</a:t>
            </a:r>
          </a:p>
          <a:p xmlns:a="http://schemas.openxmlformats.org/drawingml/2006/main">
            <a:r>
              <a:t/>
            </a:r>
          </a:p>
          <a:p xmlns:a="http://schemas.openxmlformats.org/drawingml/2006/main">
            <a:r>
              <a:t>I also included two local failure examples. A safe email is blocked when no review budget remains. In the other example, a wrong-object read passes because a read allow-list does not prove that the user authorised that file.</a:t>
            </a:r>
          </a:p>
          <a:p xmlns:a="http://schemas.openxmlformats.org/drawingml/2006/main">
            <a:r>
              <a:t/>
            </a:r>
          </a:p>
          <a:p xmlns:a="http://schemas.openxmlformats.org/drawingml/2006/main">
            <a:r>
              <a:t>These are constructed examples, not formal benchmark results. We still need the real agent, reviewer, and attacks to compare TCR, review load, and cost. The main design choice is to enforce clear restrictions without treating all uncertain actions as safe.</a:t>
            </a:r>
          </a:p>
          <a:p xmlns:a="http://schemas.openxmlformats.org/drawingml/2006/main">
            <a:r>
              <a:t/>
            </a:r>
          </a:p>
          <a:p xmlns:a="http://schemas.openxmlformats.org/drawingml/2006/main">
            <a:r>
              <a:t>Evidence: 117 passed in local pytest run on 26 October 2026. Examples: examples/policy_failure_cases.py. Metrics required by PE6203 Case 2, secs. 3–4. No live model or Reviewer was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78370d05bc548b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e8634c5ac734e2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c6d3c3bf0ef428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26bd9d6ea584ee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e4723cd41ce4d8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0dfcd151ad04bf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DD78AB6-3347-4364-B364-D6571F0FF92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1D998CE-DD6F-4272-92DE-0469D4E049C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65F2F01-1820-49A6-8AA2-F204B261618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9C8A9E8-985E-4D69-9C73-2DA86BB0AA1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AEE0CCD-4A08-4A80-AEA2-441AD125385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63CDE38-C3FB-4EC2-9B8F-DE2B5C221AC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7029AD8-34BD-42B5-A840-AE129207968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42DB390-BF7F-4963-B59E-F873CE37228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0E5448E-60CF-4C76-86F1-8DF738196AB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863798F-F65D-4D84-A7BD-151F996EED5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14e732c64394073" /><Relationship Type="http://schemas.openxmlformats.org/officeDocument/2006/relationships/slideLayout" Target="/ppt/slideLayouts/slideLayout1.xml" Id="Rf87e51752ad142eb" /><Relationship Type="http://schemas.openxmlformats.org/officeDocument/2006/relationships/slideLayout" Target="/ppt/slideLayouts/slideLayout2.xml" Id="R5e060b0f28404b16" /><Relationship Type="http://schemas.openxmlformats.org/officeDocument/2006/relationships/slideLayout" Target="/ppt/slideLayouts/slideLayout3.xml" Id="R42886cfa1b134a0c" /><Relationship Type="http://schemas.openxmlformats.org/officeDocument/2006/relationships/slideLayout" Target="/ppt/slideLayouts/slideLayout4.xml" Id="Rb5e79c8cfe2c4ab7" /><Relationship Type="http://schemas.openxmlformats.org/officeDocument/2006/relationships/slideLayout" Target="/ppt/slideLayouts/slideLayout5.xml" Id="R686a2957b9914faa" /><Relationship Type="http://schemas.openxmlformats.org/officeDocument/2006/relationships/slideLayout" Target="/ppt/slideLayouts/slideLayout6.xml" Id="R4065e179d154411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87e51752ad142eb"/>
    <p:sldLayoutId xmlns:r="http://schemas.openxmlformats.org/officeDocument/2006/relationships" id="2147483650" r:id="R5e060b0f28404b16"/>
    <p:sldLayoutId xmlns:r="http://schemas.openxmlformats.org/officeDocument/2006/relationships" id="2147483651" r:id="R42886cfa1b134a0c"/>
    <p:sldLayoutId xmlns:r="http://schemas.openxmlformats.org/officeDocument/2006/relationships" id="2147483652" r:id="Rb5e79c8cfe2c4ab7"/>
    <p:sldLayoutId xmlns:r="http://schemas.openxmlformats.org/officeDocument/2006/relationships" id="2147483653" r:id="R686a2957b9914faa"/>
    <p:sldLayoutId xmlns:r="http://schemas.openxmlformats.org/officeDocument/2006/relationships" id="2147483654" r:id="R4065e179d154411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65f36f20d254b25" /><Relationship Type="http://schemas.openxmlformats.org/officeDocument/2006/relationships/notesSlide" Target="/ppt/notesSlides/notesSlide1.xml" Id="Ra5fffbe1fe9148c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1fbd810431049a3" /><Relationship Type="http://schemas.openxmlformats.org/officeDocument/2006/relationships/notesSlide" Target="/ppt/notesSlides/notesSlide2.xml" Id="Rcf88e552731545a2"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11E692D7-D99B-41C6-B8B0-85313F140AA4}"/>
              </a:ext>
            </a:extLst>
          </p:cNvPr>
          <p:cNvSpPr>
            <a:spLocks xmlns:a="http://schemas.openxmlformats.org/drawingml/2006/main" noGrp="1"/>
          </p:cNvSpPr>
          <p:nvPr/>
        </p:nvSpPr>
        <p:spPr>
          <a:xfrm xmlns:a="http://schemas.openxmlformats.org/drawingml/2006/main">
            <a:off x="609600" y="43815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7212B"/>
                </a:solidFill>
                <a:latin typeface="Arial"/>
                <a:ea typeface="Arial"/>
                <a:cs typeface="Arial"/>
              </a:defRPr>
            </a:defPPr>
            <a:lvl1pPr>
              <a:defRPr sz="3600" b="1">
                <a:solidFill>
                  <a:srgbClr val="17212B"/>
                </a:solidFill>
                <a:latin typeface="Arial"/>
                <a:ea typeface="Arial"/>
                <a:cs typeface="Arial"/>
              </a:defRPr>
            </a:lvl1pPr>
            <a:lvl2pPr>
              <a:defRPr sz="3600" b="1">
                <a:solidFill>
                  <a:srgbClr val="17212B"/>
                </a:solidFill>
                <a:latin typeface="Arial"/>
                <a:ea typeface="Arial"/>
                <a:cs typeface="Arial"/>
              </a:defRPr>
            </a:lvl2pPr>
            <a:lvl3pPr>
              <a:defRPr sz="3600" b="1">
                <a:solidFill>
                  <a:srgbClr val="17212B"/>
                </a:solidFill>
                <a:latin typeface="Arial"/>
                <a:ea typeface="Arial"/>
                <a:cs typeface="Arial"/>
              </a:defRPr>
            </a:lvl3pPr>
            <a:lvl4pPr>
              <a:defRPr sz="3600" b="1">
                <a:solidFill>
                  <a:srgbClr val="17212B"/>
                </a:solidFill>
                <a:latin typeface="Arial"/>
                <a:ea typeface="Arial"/>
                <a:cs typeface="Arial"/>
              </a:defRPr>
            </a:lvl4pPr>
            <a:lvl5pPr>
              <a:defRPr sz="3600" b="1">
                <a:solidFill>
                  <a:srgbClr val="17212B"/>
                </a:solidFill>
                <a:latin typeface="Arial"/>
                <a:ea typeface="Arial"/>
                <a:cs typeface="Arial"/>
              </a:defRPr>
            </a:lvl5pPr>
            <a:lvl6pPr>
              <a:defRPr sz="3600" b="1">
                <a:solidFill>
                  <a:srgbClr val="17212B"/>
                </a:solidFill>
                <a:latin typeface="Arial"/>
                <a:ea typeface="Arial"/>
                <a:cs typeface="Arial"/>
              </a:defRPr>
            </a:lvl6pPr>
            <a:lvl7pPr>
              <a:defRPr sz="3600" b="1">
                <a:solidFill>
                  <a:srgbClr val="17212B"/>
                </a:solidFill>
                <a:latin typeface="Arial"/>
                <a:ea typeface="Arial"/>
                <a:cs typeface="Arial"/>
              </a:defRPr>
            </a:lvl7pPr>
            <a:lvl8pPr>
              <a:defRPr sz="3600" b="1">
                <a:solidFill>
                  <a:srgbClr val="17212B"/>
                </a:solidFill>
                <a:latin typeface="Arial"/>
                <a:ea typeface="Arial"/>
                <a:cs typeface="Arial"/>
              </a:defRPr>
            </a:lvl8pPr>
            <a:lvl9pPr>
              <a:defRPr sz="3600" b="1">
                <a:solidFill>
                  <a:srgbClr val="17212B"/>
                </a:solidFill>
                <a:latin typeface="Arial"/>
                <a:ea typeface="Arial"/>
                <a:cs typeface="Arial"/>
              </a:defRPr>
            </a:lvl9pPr>
          </a:lstStyle>
          <a:p xmlns:a="http://schemas.openxmlformats.org/drawingml/2006/main">
            <a:pPr>
              <a:defRPr sz="3600" b="1">
                <a:solidFill>
                  <a:srgbClr val="17212B"/>
                </a:solidFill>
                <a:latin typeface="Arial"/>
                <a:ea typeface="Arial"/>
                <a:cs typeface="Arial"/>
              </a:defRPr>
            </a:pPr>
            <a:r>
              <a:rPr sz="3600" b="1">
                <a:solidFill>
                  <a:srgbClr val="17212B"/>
                </a:solidFill>
                <a:latin typeface="Arial"/>
                <a:ea typeface="Arial"/>
                <a:cs typeface="Arial"/>
              </a:rPr>
              <a:t>Risk based approval</a:t>
            </a:r>
          </a:p>
        </p:txBody>
      </p:sp>
      <p:sp>
        <p:nvSpPr>
          <p:cNvPr id="2" name="scope">
            <a:extLst xmlns:a="http://schemas.openxmlformats.org/drawingml/2006/main">
              <a:ext uri="{FF2B5EF4-FFF2-40B4-BE49-F238E27FC236}">
                <a16:creationId xmlns:a16="http://schemas.microsoft.com/office/drawing/2014/main" id="{0F4E5818-C976-4AE5-9E2F-71F1A019BC53}"/>
              </a:ext>
            </a:extLst>
          </p:cNvPr>
          <p:cNvSpPr>
            <a:spLocks xmlns:a="http://schemas.openxmlformats.org/drawingml/2006/main" noGrp="1"/>
          </p:cNvSpPr>
          <p:nvPr/>
        </p:nvSpPr>
        <p:spPr>
          <a:xfrm xmlns:a="http://schemas.openxmlformats.org/drawingml/2006/main">
            <a:off x="628650" y="1257300"/>
            <a:ext cx="10810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435362"/>
                </a:solidFill>
                <a:latin typeface="Arial"/>
                <a:ea typeface="Arial"/>
                <a:cs typeface="Arial"/>
              </a:defRPr>
            </a:defPPr>
            <a:lvl1pPr>
              <a:defRPr sz="2025" b="0">
                <a:solidFill>
                  <a:srgbClr val="435362"/>
                </a:solidFill>
                <a:latin typeface="Arial"/>
                <a:ea typeface="Arial"/>
                <a:cs typeface="Arial"/>
              </a:defRPr>
            </a:lvl1pPr>
            <a:lvl2pPr>
              <a:defRPr sz="2025" b="0">
                <a:solidFill>
                  <a:srgbClr val="435362"/>
                </a:solidFill>
                <a:latin typeface="Arial"/>
                <a:ea typeface="Arial"/>
                <a:cs typeface="Arial"/>
              </a:defRPr>
            </a:lvl2pPr>
            <a:lvl3pPr>
              <a:defRPr sz="2025" b="0">
                <a:solidFill>
                  <a:srgbClr val="435362"/>
                </a:solidFill>
                <a:latin typeface="Arial"/>
                <a:ea typeface="Arial"/>
                <a:cs typeface="Arial"/>
              </a:defRPr>
            </a:lvl3pPr>
            <a:lvl4pPr>
              <a:defRPr sz="2025" b="0">
                <a:solidFill>
                  <a:srgbClr val="435362"/>
                </a:solidFill>
                <a:latin typeface="Arial"/>
                <a:ea typeface="Arial"/>
                <a:cs typeface="Arial"/>
              </a:defRPr>
            </a:lvl4pPr>
            <a:lvl5pPr>
              <a:defRPr sz="2025" b="0">
                <a:solidFill>
                  <a:srgbClr val="435362"/>
                </a:solidFill>
                <a:latin typeface="Arial"/>
                <a:ea typeface="Arial"/>
                <a:cs typeface="Arial"/>
              </a:defRPr>
            </a:lvl5pPr>
            <a:lvl6pPr>
              <a:defRPr sz="2025" b="0">
                <a:solidFill>
                  <a:srgbClr val="435362"/>
                </a:solidFill>
                <a:latin typeface="Arial"/>
                <a:ea typeface="Arial"/>
                <a:cs typeface="Arial"/>
              </a:defRPr>
            </a:lvl6pPr>
            <a:lvl7pPr>
              <a:defRPr sz="2025" b="0">
                <a:solidFill>
                  <a:srgbClr val="435362"/>
                </a:solidFill>
                <a:latin typeface="Arial"/>
                <a:ea typeface="Arial"/>
                <a:cs typeface="Arial"/>
              </a:defRPr>
            </a:lvl7pPr>
            <a:lvl8pPr>
              <a:defRPr sz="2025" b="0">
                <a:solidFill>
                  <a:srgbClr val="435362"/>
                </a:solidFill>
                <a:latin typeface="Arial"/>
                <a:ea typeface="Arial"/>
                <a:cs typeface="Arial"/>
              </a:defRPr>
            </a:lvl8pPr>
            <a:lvl9pPr>
              <a:defRPr sz="2025" b="0">
                <a:solidFill>
                  <a:srgbClr val="435362"/>
                </a:solidFill>
                <a:latin typeface="Arial"/>
                <a:ea typeface="Arial"/>
                <a:cs typeface="Arial"/>
              </a:defRPr>
            </a:lvl9pPr>
          </a:lstStyle>
          <a:p xmlns:a="http://schemas.openxmlformats.org/drawingml/2006/main">
            <a:pPr>
              <a:defRPr sz="2025" b="0">
                <a:solidFill>
                  <a:srgbClr val="435362"/>
                </a:solidFill>
                <a:latin typeface="Arial"/>
                <a:ea typeface="Arial"/>
                <a:cs typeface="Arial"/>
              </a:defRPr>
            </a:pPr>
            <a:r>
              <a:rPr sz="2025" b="0">
                <a:solidFill>
                  <a:srgbClr val="435362"/>
                </a:solidFill>
                <a:latin typeface="Arial"/>
                <a:ea typeface="Arial"/>
                <a:cs typeface="Arial"/>
              </a:rPr>
              <a:t>Risk checks before execution. Review budget stays with the gate.</a:t>
            </a:r>
          </a:p>
        </p:txBody>
      </p:sp>
      <p:sp>
        <p:nvSpPr>
          <p:cNvPr id="3" name="approve-label">
            <a:extLst xmlns:a="http://schemas.openxmlformats.org/drawingml/2006/main">
              <a:ext uri="{FF2B5EF4-FFF2-40B4-BE49-F238E27FC236}">
                <a16:creationId xmlns:a16="http://schemas.microsoft.com/office/drawing/2014/main" id="{FBCF3BE1-DE70-46A6-A132-12EBA4F10058}"/>
              </a:ext>
            </a:extLst>
          </p:cNvPr>
          <p:cNvSpPr>
            <a:spLocks xmlns:a="http://schemas.openxmlformats.org/drawingml/2006/main" noGrp="1"/>
          </p:cNvSpPr>
          <p:nvPr/>
        </p:nvSpPr>
        <p:spPr>
          <a:xfrm xmlns:a="http://schemas.openxmlformats.org/drawingml/2006/main">
            <a:off x="647700" y="2286000"/>
            <a:ext cx="209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7212B"/>
                </a:solidFill>
                <a:latin typeface="Arial"/>
                <a:ea typeface="Arial"/>
                <a:cs typeface="Arial"/>
              </a:defRPr>
            </a:defPPr>
            <a:lvl1pPr>
              <a:defRPr sz="2325" b="1">
                <a:solidFill>
                  <a:srgbClr val="17212B"/>
                </a:solidFill>
                <a:latin typeface="Arial"/>
                <a:ea typeface="Arial"/>
                <a:cs typeface="Arial"/>
              </a:defRPr>
            </a:lvl1pPr>
            <a:lvl2pPr>
              <a:defRPr sz="2325" b="1">
                <a:solidFill>
                  <a:srgbClr val="17212B"/>
                </a:solidFill>
                <a:latin typeface="Arial"/>
                <a:ea typeface="Arial"/>
                <a:cs typeface="Arial"/>
              </a:defRPr>
            </a:lvl2pPr>
            <a:lvl3pPr>
              <a:defRPr sz="2325" b="1">
                <a:solidFill>
                  <a:srgbClr val="17212B"/>
                </a:solidFill>
                <a:latin typeface="Arial"/>
                <a:ea typeface="Arial"/>
                <a:cs typeface="Arial"/>
              </a:defRPr>
            </a:lvl3pPr>
            <a:lvl4pPr>
              <a:defRPr sz="2325" b="1">
                <a:solidFill>
                  <a:srgbClr val="17212B"/>
                </a:solidFill>
                <a:latin typeface="Arial"/>
                <a:ea typeface="Arial"/>
                <a:cs typeface="Arial"/>
              </a:defRPr>
            </a:lvl4pPr>
            <a:lvl5pPr>
              <a:defRPr sz="2325" b="1">
                <a:solidFill>
                  <a:srgbClr val="17212B"/>
                </a:solidFill>
                <a:latin typeface="Arial"/>
                <a:ea typeface="Arial"/>
                <a:cs typeface="Arial"/>
              </a:defRPr>
            </a:lvl5pPr>
            <a:lvl6pPr>
              <a:defRPr sz="2325" b="1">
                <a:solidFill>
                  <a:srgbClr val="17212B"/>
                </a:solidFill>
                <a:latin typeface="Arial"/>
                <a:ea typeface="Arial"/>
                <a:cs typeface="Arial"/>
              </a:defRPr>
            </a:lvl6pPr>
            <a:lvl7pPr>
              <a:defRPr sz="2325" b="1">
                <a:solidFill>
                  <a:srgbClr val="17212B"/>
                </a:solidFill>
                <a:latin typeface="Arial"/>
                <a:ea typeface="Arial"/>
                <a:cs typeface="Arial"/>
              </a:defRPr>
            </a:lvl7pPr>
            <a:lvl8pPr>
              <a:defRPr sz="2325" b="1">
                <a:solidFill>
                  <a:srgbClr val="17212B"/>
                </a:solidFill>
                <a:latin typeface="Arial"/>
                <a:ea typeface="Arial"/>
                <a:cs typeface="Arial"/>
              </a:defRPr>
            </a:lvl8pPr>
            <a:lvl9pPr>
              <a:defRPr sz="2325" b="1">
                <a:solidFill>
                  <a:srgbClr val="17212B"/>
                </a:solidFill>
                <a:latin typeface="Arial"/>
                <a:ea typeface="Arial"/>
                <a:cs typeface="Arial"/>
              </a:defRPr>
            </a:lvl9pPr>
          </a:lstStyle>
          <a:p xmlns:a="http://schemas.openxmlformats.org/drawingml/2006/main">
            <a:pPr>
              <a:defRPr sz="2325" b="1">
                <a:solidFill>
                  <a:srgbClr val="17212B"/>
                </a:solidFill>
                <a:latin typeface="Arial"/>
                <a:ea typeface="Arial"/>
                <a:cs typeface="Arial"/>
              </a:defRPr>
            </a:pPr>
            <a:r>
              <a:rPr sz="2325" b="1">
                <a:solidFill>
                  <a:srgbClr val="17212B"/>
                </a:solidFill>
                <a:latin typeface="Arial"/>
                <a:ea typeface="Arial"/>
                <a:cs typeface="Arial"/>
              </a:rPr>
              <a:t>APPROVE</a:t>
            </a:r>
          </a:p>
        </p:txBody>
      </p:sp>
      <p:sp>
        <p:nvSpPr>
          <p:cNvPr id="4" name="approve-text">
            <a:extLst xmlns:a="http://schemas.openxmlformats.org/drawingml/2006/main">
              <a:ext uri="{FF2B5EF4-FFF2-40B4-BE49-F238E27FC236}">
                <a16:creationId xmlns:a16="http://schemas.microsoft.com/office/drawing/2014/main" id="{BA245016-29D9-48A1-9563-AD6AA4140E07}"/>
              </a:ext>
            </a:extLst>
          </p:cNvPr>
          <p:cNvSpPr>
            <a:spLocks xmlns:a="http://schemas.openxmlformats.org/drawingml/2006/main" noGrp="1"/>
          </p:cNvSpPr>
          <p:nvPr/>
        </p:nvSpPr>
        <p:spPr>
          <a:xfrm xmlns:a="http://schemas.openxmlformats.org/drawingml/2006/main">
            <a:off x="3048000" y="2190750"/>
            <a:ext cx="8286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7212B"/>
                </a:solidFill>
                <a:latin typeface="Arial"/>
                <a:ea typeface="Arial"/>
                <a:cs typeface="Arial"/>
              </a:defRPr>
            </a:defPPr>
            <a:lvl1pPr>
              <a:defRPr sz="2250" b="0">
                <a:solidFill>
                  <a:srgbClr val="17212B"/>
                </a:solidFill>
                <a:latin typeface="Arial"/>
                <a:ea typeface="Arial"/>
                <a:cs typeface="Arial"/>
              </a:defRPr>
            </a:lvl1pPr>
            <a:lvl2pPr>
              <a:defRPr sz="2250" b="0">
                <a:solidFill>
                  <a:srgbClr val="17212B"/>
                </a:solidFill>
                <a:latin typeface="Arial"/>
                <a:ea typeface="Arial"/>
                <a:cs typeface="Arial"/>
              </a:defRPr>
            </a:lvl2pPr>
            <a:lvl3pPr>
              <a:defRPr sz="2250" b="0">
                <a:solidFill>
                  <a:srgbClr val="17212B"/>
                </a:solidFill>
                <a:latin typeface="Arial"/>
                <a:ea typeface="Arial"/>
                <a:cs typeface="Arial"/>
              </a:defRPr>
            </a:lvl3pPr>
            <a:lvl4pPr>
              <a:defRPr sz="2250" b="0">
                <a:solidFill>
                  <a:srgbClr val="17212B"/>
                </a:solidFill>
                <a:latin typeface="Arial"/>
                <a:ea typeface="Arial"/>
                <a:cs typeface="Arial"/>
              </a:defRPr>
            </a:lvl4pPr>
            <a:lvl5pPr>
              <a:defRPr sz="2250" b="0">
                <a:solidFill>
                  <a:srgbClr val="17212B"/>
                </a:solidFill>
                <a:latin typeface="Arial"/>
                <a:ea typeface="Arial"/>
                <a:cs typeface="Arial"/>
              </a:defRPr>
            </a:lvl5pPr>
            <a:lvl6pPr>
              <a:defRPr sz="2250" b="0">
                <a:solidFill>
                  <a:srgbClr val="17212B"/>
                </a:solidFill>
                <a:latin typeface="Arial"/>
                <a:ea typeface="Arial"/>
                <a:cs typeface="Arial"/>
              </a:defRPr>
            </a:lvl6pPr>
            <a:lvl7pPr>
              <a:defRPr sz="2250" b="0">
                <a:solidFill>
                  <a:srgbClr val="17212B"/>
                </a:solidFill>
                <a:latin typeface="Arial"/>
                <a:ea typeface="Arial"/>
                <a:cs typeface="Arial"/>
              </a:defRPr>
            </a:lvl7pPr>
            <a:lvl8pPr>
              <a:defRPr sz="2250" b="0">
                <a:solidFill>
                  <a:srgbClr val="17212B"/>
                </a:solidFill>
                <a:latin typeface="Arial"/>
                <a:ea typeface="Arial"/>
                <a:cs typeface="Arial"/>
              </a:defRPr>
            </a:lvl8pPr>
            <a:lvl9pPr>
              <a:defRPr sz="2250" b="0">
                <a:solidFill>
                  <a:srgbClr val="17212B"/>
                </a:solidFill>
                <a:latin typeface="Arial"/>
                <a:ea typeface="Arial"/>
                <a:cs typeface="Arial"/>
              </a:defRPr>
            </a:lvl9pPr>
          </a:lstStyle>
          <a:p xmlns:a="http://schemas.openxmlformats.org/drawingml/2006/main">
            <a:pPr>
              <a:defRPr sz="2250" b="0">
                <a:solidFill>
                  <a:srgbClr val="17212B"/>
                </a:solidFill>
                <a:latin typeface="Arial"/>
                <a:ea typeface="Arial"/>
                <a:cs typeface="Arial"/>
              </a:defRPr>
            </a:pPr>
            <a:r>
              <a:rPr sz="2250" b="0">
                <a:solidFill>
                  <a:srgbClr val="17212B"/>
                </a:solidFill>
                <a:latin typeface="Arial"/>
                <a:ea typeface="Arial"/>
                <a:cs typeface="Arial"/>
              </a:rPr>
              <a:t>Known local queries</a:t>
            </a:r>
          </a:p>
          <a:p xmlns:a="http://schemas.openxmlformats.org/drawingml/2006/main">
            <a:pPr>
              <a:defRPr sz="2250" b="0">
                <a:solidFill>
                  <a:srgbClr val="17212B"/>
                </a:solidFill>
                <a:latin typeface="Arial"/>
                <a:ea typeface="Arial"/>
                <a:cs typeface="Arial"/>
              </a:defRPr>
            </a:pPr>
            <a:r>
              <a:rPr sz="2250" b="0">
                <a:solidFill>
                  <a:srgbClr val="17212B"/>
                </a:solidFill>
                <a:latin typeface="Arial"/>
                <a:ea typeface="Arial"/>
                <a:cs typeface="Arial"/>
              </a:rPr>
              <a:t>No direct write or external send</a:t>
            </a:r>
          </a:p>
        </p:txBody>
      </p:sp>
      <p:sp>
        <p:nvSpPr>
          <p:cNvPr id="5" name="deny-label">
            <a:extLst xmlns:a="http://schemas.openxmlformats.org/drawingml/2006/main">
              <a:ext uri="{FF2B5EF4-FFF2-40B4-BE49-F238E27FC236}">
                <a16:creationId xmlns:a16="http://schemas.microsoft.com/office/drawing/2014/main" id="{26E3ABA8-50A7-45E6-9386-47A45F55AFC4}"/>
              </a:ext>
            </a:extLst>
          </p:cNvPr>
          <p:cNvSpPr>
            <a:spLocks xmlns:a="http://schemas.openxmlformats.org/drawingml/2006/main" noGrp="1"/>
          </p:cNvSpPr>
          <p:nvPr/>
        </p:nvSpPr>
        <p:spPr>
          <a:xfrm xmlns:a="http://schemas.openxmlformats.org/drawingml/2006/main">
            <a:off x="647700" y="3476625"/>
            <a:ext cx="209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7212B"/>
                </a:solidFill>
                <a:latin typeface="Arial"/>
                <a:ea typeface="Arial"/>
                <a:cs typeface="Arial"/>
              </a:defRPr>
            </a:defPPr>
            <a:lvl1pPr>
              <a:defRPr sz="2325" b="1">
                <a:solidFill>
                  <a:srgbClr val="17212B"/>
                </a:solidFill>
                <a:latin typeface="Arial"/>
                <a:ea typeface="Arial"/>
                <a:cs typeface="Arial"/>
              </a:defRPr>
            </a:lvl1pPr>
            <a:lvl2pPr>
              <a:defRPr sz="2325" b="1">
                <a:solidFill>
                  <a:srgbClr val="17212B"/>
                </a:solidFill>
                <a:latin typeface="Arial"/>
                <a:ea typeface="Arial"/>
                <a:cs typeface="Arial"/>
              </a:defRPr>
            </a:lvl2pPr>
            <a:lvl3pPr>
              <a:defRPr sz="2325" b="1">
                <a:solidFill>
                  <a:srgbClr val="17212B"/>
                </a:solidFill>
                <a:latin typeface="Arial"/>
                <a:ea typeface="Arial"/>
                <a:cs typeface="Arial"/>
              </a:defRPr>
            </a:lvl3pPr>
            <a:lvl4pPr>
              <a:defRPr sz="2325" b="1">
                <a:solidFill>
                  <a:srgbClr val="17212B"/>
                </a:solidFill>
                <a:latin typeface="Arial"/>
                <a:ea typeface="Arial"/>
                <a:cs typeface="Arial"/>
              </a:defRPr>
            </a:lvl4pPr>
            <a:lvl5pPr>
              <a:defRPr sz="2325" b="1">
                <a:solidFill>
                  <a:srgbClr val="17212B"/>
                </a:solidFill>
                <a:latin typeface="Arial"/>
                <a:ea typeface="Arial"/>
                <a:cs typeface="Arial"/>
              </a:defRPr>
            </a:lvl5pPr>
            <a:lvl6pPr>
              <a:defRPr sz="2325" b="1">
                <a:solidFill>
                  <a:srgbClr val="17212B"/>
                </a:solidFill>
                <a:latin typeface="Arial"/>
                <a:ea typeface="Arial"/>
                <a:cs typeface="Arial"/>
              </a:defRPr>
            </a:lvl6pPr>
            <a:lvl7pPr>
              <a:defRPr sz="2325" b="1">
                <a:solidFill>
                  <a:srgbClr val="17212B"/>
                </a:solidFill>
                <a:latin typeface="Arial"/>
                <a:ea typeface="Arial"/>
                <a:cs typeface="Arial"/>
              </a:defRPr>
            </a:lvl7pPr>
            <a:lvl8pPr>
              <a:defRPr sz="2325" b="1">
                <a:solidFill>
                  <a:srgbClr val="17212B"/>
                </a:solidFill>
                <a:latin typeface="Arial"/>
                <a:ea typeface="Arial"/>
                <a:cs typeface="Arial"/>
              </a:defRPr>
            </a:lvl8pPr>
            <a:lvl9pPr>
              <a:defRPr sz="2325" b="1">
                <a:solidFill>
                  <a:srgbClr val="17212B"/>
                </a:solidFill>
                <a:latin typeface="Arial"/>
                <a:ea typeface="Arial"/>
                <a:cs typeface="Arial"/>
              </a:defRPr>
            </a:lvl9pPr>
          </a:lstStyle>
          <a:p xmlns:a="http://schemas.openxmlformats.org/drawingml/2006/main">
            <a:pPr>
              <a:defRPr sz="2325" b="1">
                <a:solidFill>
                  <a:srgbClr val="17212B"/>
                </a:solidFill>
                <a:latin typeface="Arial"/>
                <a:ea typeface="Arial"/>
                <a:cs typeface="Arial"/>
              </a:defRPr>
            </a:pPr>
            <a:r>
              <a:rPr sz="2325" b="1">
                <a:solidFill>
                  <a:srgbClr val="17212B"/>
                </a:solidFill>
                <a:latin typeface="Arial"/>
                <a:ea typeface="Arial"/>
                <a:cs typeface="Arial"/>
              </a:rPr>
              <a:t>DENY</a:t>
            </a:r>
          </a:p>
        </p:txBody>
      </p:sp>
      <p:sp>
        <p:nvSpPr>
          <p:cNvPr id="6" name="deny-text">
            <a:extLst xmlns:a="http://schemas.openxmlformats.org/drawingml/2006/main">
              <a:ext uri="{FF2B5EF4-FFF2-40B4-BE49-F238E27FC236}">
                <a16:creationId xmlns:a16="http://schemas.microsoft.com/office/drawing/2014/main" id="{36D86127-C462-44A5-A950-BE0073D78B34}"/>
              </a:ext>
            </a:extLst>
          </p:cNvPr>
          <p:cNvSpPr>
            <a:spLocks xmlns:a="http://schemas.openxmlformats.org/drawingml/2006/main" noGrp="1"/>
          </p:cNvSpPr>
          <p:nvPr/>
        </p:nvSpPr>
        <p:spPr>
          <a:xfrm xmlns:a="http://schemas.openxmlformats.org/drawingml/2006/main">
            <a:off x="3048000" y="3333750"/>
            <a:ext cx="8286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7212B"/>
                </a:solidFill>
                <a:latin typeface="Arial"/>
                <a:ea typeface="Arial"/>
                <a:cs typeface="Arial"/>
              </a:defRPr>
            </a:defPPr>
            <a:lvl1pPr>
              <a:defRPr sz="2250" b="0">
                <a:solidFill>
                  <a:srgbClr val="17212B"/>
                </a:solidFill>
                <a:latin typeface="Arial"/>
                <a:ea typeface="Arial"/>
                <a:cs typeface="Arial"/>
              </a:defRPr>
            </a:lvl1pPr>
            <a:lvl2pPr>
              <a:defRPr sz="2250" b="0">
                <a:solidFill>
                  <a:srgbClr val="17212B"/>
                </a:solidFill>
                <a:latin typeface="Arial"/>
                <a:ea typeface="Arial"/>
                <a:cs typeface="Arial"/>
              </a:defRPr>
            </a:lvl2pPr>
            <a:lvl3pPr>
              <a:defRPr sz="2250" b="0">
                <a:solidFill>
                  <a:srgbClr val="17212B"/>
                </a:solidFill>
                <a:latin typeface="Arial"/>
                <a:ea typeface="Arial"/>
                <a:cs typeface="Arial"/>
              </a:defRPr>
            </a:lvl3pPr>
            <a:lvl4pPr>
              <a:defRPr sz="2250" b="0">
                <a:solidFill>
                  <a:srgbClr val="17212B"/>
                </a:solidFill>
                <a:latin typeface="Arial"/>
                <a:ea typeface="Arial"/>
                <a:cs typeface="Arial"/>
              </a:defRPr>
            </a:lvl4pPr>
            <a:lvl5pPr>
              <a:defRPr sz="2250" b="0">
                <a:solidFill>
                  <a:srgbClr val="17212B"/>
                </a:solidFill>
                <a:latin typeface="Arial"/>
                <a:ea typeface="Arial"/>
                <a:cs typeface="Arial"/>
              </a:defRPr>
            </a:lvl5pPr>
            <a:lvl6pPr>
              <a:defRPr sz="2250" b="0">
                <a:solidFill>
                  <a:srgbClr val="17212B"/>
                </a:solidFill>
                <a:latin typeface="Arial"/>
                <a:ea typeface="Arial"/>
                <a:cs typeface="Arial"/>
              </a:defRPr>
            </a:lvl6pPr>
            <a:lvl7pPr>
              <a:defRPr sz="2250" b="0">
                <a:solidFill>
                  <a:srgbClr val="17212B"/>
                </a:solidFill>
                <a:latin typeface="Arial"/>
                <a:ea typeface="Arial"/>
                <a:cs typeface="Arial"/>
              </a:defRPr>
            </a:lvl7pPr>
            <a:lvl8pPr>
              <a:defRPr sz="2250" b="0">
                <a:solidFill>
                  <a:srgbClr val="17212B"/>
                </a:solidFill>
                <a:latin typeface="Arial"/>
                <a:ea typeface="Arial"/>
                <a:cs typeface="Arial"/>
              </a:defRPr>
            </a:lvl8pPr>
            <a:lvl9pPr>
              <a:defRPr sz="2250" b="0">
                <a:solidFill>
                  <a:srgbClr val="17212B"/>
                </a:solidFill>
                <a:latin typeface="Arial"/>
                <a:ea typeface="Arial"/>
                <a:cs typeface="Arial"/>
              </a:defRPr>
            </a:lvl9pPr>
          </a:lstStyle>
          <a:p xmlns:a="http://schemas.openxmlformats.org/drawingml/2006/main">
            <a:pPr>
              <a:defRPr sz="2250" b="0">
                <a:solidFill>
                  <a:srgbClr val="17212B"/>
                </a:solidFill>
                <a:latin typeface="Arial"/>
                <a:ea typeface="Arial"/>
                <a:cs typeface="Arial"/>
              </a:defRPr>
            </a:pPr>
            <a:r>
              <a:rPr sz="2250" b="0">
                <a:solidFill>
                  <a:srgbClr val="17212B"/>
                </a:solidFill>
                <a:latin typeface="Arial"/>
                <a:ea typeface="Arial"/>
                <a:cs typeface="Arial"/>
              </a:rPr>
              <a:t>Invalid requests, literal credential egress,</a:t>
            </a:r>
          </a:p>
          <a:p xmlns:a="http://schemas.openxmlformats.org/drawingml/2006/main">
            <a:pPr>
              <a:defRPr sz="2250" b="0">
                <a:solidFill>
                  <a:srgbClr val="17212B"/>
                </a:solidFill>
                <a:latin typeface="Arial"/>
                <a:ea typeface="Arial"/>
                <a:cs typeface="Arial"/>
              </a:defRPr>
            </a:pPr>
            <a:r>
              <a:rPr sz="2250" b="0">
                <a:solidFill>
                  <a:srgbClr val="17212B"/>
                </a:solidFill>
                <a:latin typeface="Arial"/>
                <a:ea typeface="Arial"/>
                <a:cs typeface="Arial"/>
              </a:rPr>
              <a:t>or a supported explicit user restriction</a:t>
            </a:r>
          </a:p>
        </p:txBody>
      </p:sp>
      <p:sp>
        <p:nvSpPr>
          <p:cNvPr id="7" name="escalate-label">
            <a:extLst xmlns:a="http://schemas.openxmlformats.org/drawingml/2006/main">
              <a:ext uri="{FF2B5EF4-FFF2-40B4-BE49-F238E27FC236}">
                <a16:creationId xmlns:a16="http://schemas.microsoft.com/office/drawing/2014/main" id="{F019FC95-4C36-4591-A6EA-F391E0664899}"/>
              </a:ext>
            </a:extLst>
          </p:cNvPr>
          <p:cNvSpPr>
            <a:spLocks xmlns:a="http://schemas.openxmlformats.org/drawingml/2006/main" noGrp="1"/>
          </p:cNvSpPr>
          <p:nvPr/>
        </p:nvSpPr>
        <p:spPr>
          <a:xfrm xmlns:a="http://schemas.openxmlformats.org/drawingml/2006/main">
            <a:off x="647700" y="4667250"/>
            <a:ext cx="209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7212B"/>
                </a:solidFill>
                <a:latin typeface="Arial"/>
                <a:ea typeface="Arial"/>
                <a:cs typeface="Arial"/>
              </a:defRPr>
            </a:defPPr>
            <a:lvl1pPr>
              <a:defRPr sz="2325" b="1">
                <a:solidFill>
                  <a:srgbClr val="17212B"/>
                </a:solidFill>
                <a:latin typeface="Arial"/>
                <a:ea typeface="Arial"/>
                <a:cs typeface="Arial"/>
              </a:defRPr>
            </a:lvl1pPr>
            <a:lvl2pPr>
              <a:defRPr sz="2325" b="1">
                <a:solidFill>
                  <a:srgbClr val="17212B"/>
                </a:solidFill>
                <a:latin typeface="Arial"/>
                <a:ea typeface="Arial"/>
                <a:cs typeface="Arial"/>
              </a:defRPr>
            </a:lvl2pPr>
            <a:lvl3pPr>
              <a:defRPr sz="2325" b="1">
                <a:solidFill>
                  <a:srgbClr val="17212B"/>
                </a:solidFill>
                <a:latin typeface="Arial"/>
                <a:ea typeface="Arial"/>
                <a:cs typeface="Arial"/>
              </a:defRPr>
            </a:lvl3pPr>
            <a:lvl4pPr>
              <a:defRPr sz="2325" b="1">
                <a:solidFill>
                  <a:srgbClr val="17212B"/>
                </a:solidFill>
                <a:latin typeface="Arial"/>
                <a:ea typeface="Arial"/>
                <a:cs typeface="Arial"/>
              </a:defRPr>
            </a:lvl4pPr>
            <a:lvl5pPr>
              <a:defRPr sz="2325" b="1">
                <a:solidFill>
                  <a:srgbClr val="17212B"/>
                </a:solidFill>
                <a:latin typeface="Arial"/>
                <a:ea typeface="Arial"/>
                <a:cs typeface="Arial"/>
              </a:defRPr>
            </a:lvl5pPr>
            <a:lvl6pPr>
              <a:defRPr sz="2325" b="1">
                <a:solidFill>
                  <a:srgbClr val="17212B"/>
                </a:solidFill>
                <a:latin typeface="Arial"/>
                <a:ea typeface="Arial"/>
                <a:cs typeface="Arial"/>
              </a:defRPr>
            </a:lvl6pPr>
            <a:lvl7pPr>
              <a:defRPr sz="2325" b="1">
                <a:solidFill>
                  <a:srgbClr val="17212B"/>
                </a:solidFill>
                <a:latin typeface="Arial"/>
                <a:ea typeface="Arial"/>
                <a:cs typeface="Arial"/>
              </a:defRPr>
            </a:lvl7pPr>
            <a:lvl8pPr>
              <a:defRPr sz="2325" b="1">
                <a:solidFill>
                  <a:srgbClr val="17212B"/>
                </a:solidFill>
                <a:latin typeface="Arial"/>
                <a:ea typeface="Arial"/>
                <a:cs typeface="Arial"/>
              </a:defRPr>
            </a:lvl8pPr>
            <a:lvl9pPr>
              <a:defRPr sz="2325" b="1">
                <a:solidFill>
                  <a:srgbClr val="17212B"/>
                </a:solidFill>
                <a:latin typeface="Arial"/>
                <a:ea typeface="Arial"/>
                <a:cs typeface="Arial"/>
              </a:defRPr>
            </a:lvl9pPr>
          </a:lstStyle>
          <a:p xmlns:a="http://schemas.openxmlformats.org/drawingml/2006/main">
            <a:pPr>
              <a:defRPr sz="2325" b="1">
                <a:solidFill>
                  <a:srgbClr val="17212B"/>
                </a:solidFill>
                <a:latin typeface="Arial"/>
                <a:ea typeface="Arial"/>
                <a:cs typeface="Arial"/>
              </a:defRPr>
            </a:pPr>
            <a:r>
              <a:rPr sz="2325" b="1">
                <a:solidFill>
                  <a:srgbClr val="17212B"/>
                </a:solidFill>
                <a:latin typeface="Arial"/>
                <a:ea typeface="Arial"/>
                <a:cs typeface="Arial"/>
              </a:rPr>
              <a:t>ESCALATE</a:t>
            </a:r>
          </a:p>
        </p:txBody>
      </p:sp>
      <p:sp>
        <p:nvSpPr>
          <p:cNvPr id="8" name="escalate-text">
            <a:extLst xmlns:a="http://schemas.openxmlformats.org/drawingml/2006/main">
              <a:ext uri="{FF2B5EF4-FFF2-40B4-BE49-F238E27FC236}">
                <a16:creationId xmlns:a16="http://schemas.microsoft.com/office/drawing/2014/main" id="{8D7F3200-C297-44FE-948F-3208E7D9AC12}"/>
              </a:ext>
            </a:extLst>
          </p:cNvPr>
          <p:cNvSpPr>
            <a:spLocks xmlns:a="http://schemas.openxmlformats.org/drawingml/2006/main" noGrp="1"/>
          </p:cNvSpPr>
          <p:nvPr/>
        </p:nvSpPr>
        <p:spPr>
          <a:xfrm xmlns:a="http://schemas.openxmlformats.org/drawingml/2006/main">
            <a:off x="3048000" y="4514850"/>
            <a:ext cx="8286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7212B"/>
                </a:solidFill>
                <a:latin typeface="Arial"/>
                <a:ea typeface="Arial"/>
                <a:cs typeface="Arial"/>
              </a:defRPr>
            </a:defPPr>
            <a:lvl1pPr>
              <a:defRPr sz="2250" b="0">
                <a:solidFill>
                  <a:srgbClr val="17212B"/>
                </a:solidFill>
                <a:latin typeface="Arial"/>
                <a:ea typeface="Arial"/>
                <a:cs typeface="Arial"/>
              </a:defRPr>
            </a:lvl1pPr>
            <a:lvl2pPr>
              <a:defRPr sz="2250" b="0">
                <a:solidFill>
                  <a:srgbClr val="17212B"/>
                </a:solidFill>
                <a:latin typeface="Arial"/>
                <a:ea typeface="Arial"/>
                <a:cs typeface="Arial"/>
              </a:defRPr>
            </a:lvl2pPr>
            <a:lvl3pPr>
              <a:defRPr sz="2250" b="0">
                <a:solidFill>
                  <a:srgbClr val="17212B"/>
                </a:solidFill>
                <a:latin typeface="Arial"/>
                <a:ea typeface="Arial"/>
                <a:cs typeface="Arial"/>
              </a:defRPr>
            </a:lvl3pPr>
            <a:lvl4pPr>
              <a:defRPr sz="2250" b="0">
                <a:solidFill>
                  <a:srgbClr val="17212B"/>
                </a:solidFill>
                <a:latin typeface="Arial"/>
                <a:ea typeface="Arial"/>
                <a:cs typeface="Arial"/>
              </a:defRPr>
            </a:lvl4pPr>
            <a:lvl5pPr>
              <a:defRPr sz="2250" b="0">
                <a:solidFill>
                  <a:srgbClr val="17212B"/>
                </a:solidFill>
                <a:latin typeface="Arial"/>
                <a:ea typeface="Arial"/>
                <a:cs typeface="Arial"/>
              </a:defRPr>
            </a:lvl5pPr>
            <a:lvl6pPr>
              <a:defRPr sz="2250" b="0">
                <a:solidFill>
                  <a:srgbClr val="17212B"/>
                </a:solidFill>
                <a:latin typeface="Arial"/>
                <a:ea typeface="Arial"/>
                <a:cs typeface="Arial"/>
              </a:defRPr>
            </a:lvl6pPr>
            <a:lvl7pPr>
              <a:defRPr sz="2250" b="0">
                <a:solidFill>
                  <a:srgbClr val="17212B"/>
                </a:solidFill>
                <a:latin typeface="Arial"/>
                <a:ea typeface="Arial"/>
                <a:cs typeface="Arial"/>
              </a:defRPr>
            </a:lvl7pPr>
            <a:lvl8pPr>
              <a:defRPr sz="2250" b="0">
                <a:solidFill>
                  <a:srgbClr val="17212B"/>
                </a:solidFill>
                <a:latin typeface="Arial"/>
                <a:ea typeface="Arial"/>
                <a:cs typeface="Arial"/>
              </a:defRPr>
            </a:lvl8pPr>
            <a:lvl9pPr>
              <a:defRPr sz="2250" b="0">
                <a:solidFill>
                  <a:srgbClr val="17212B"/>
                </a:solidFill>
                <a:latin typeface="Arial"/>
                <a:ea typeface="Arial"/>
                <a:cs typeface="Arial"/>
              </a:defRPr>
            </a:lvl9pPr>
          </a:lstStyle>
          <a:p xmlns:a="http://schemas.openxmlformats.org/drawingml/2006/main">
            <a:pPr>
              <a:defRPr sz="2250" b="0">
                <a:solidFill>
                  <a:srgbClr val="17212B"/>
                </a:solidFill>
                <a:latin typeface="Arial"/>
                <a:ea typeface="Arial"/>
                <a:cs typeface="Arial"/>
              </a:defRPr>
            </a:pPr>
            <a:r>
              <a:rPr sz="2250" b="0">
                <a:solidFill>
                  <a:srgbClr val="17212B"/>
                </a:solidFill>
                <a:latin typeface="Arial"/>
                <a:ea typeface="Arial"/>
                <a:cs typeface="Arial"/>
              </a:rPr>
              <a:t>Sensitive reads, writes, payments,</a:t>
            </a:r>
          </a:p>
          <a:p xmlns:a="http://schemas.openxmlformats.org/drawingml/2006/main">
            <a:pPr>
              <a:defRPr sz="2250" b="0">
                <a:solidFill>
                  <a:srgbClr val="17212B"/>
                </a:solidFill>
                <a:latin typeface="Arial"/>
                <a:ea typeface="Arial"/>
                <a:cs typeface="Arial"/>
              </a:defRPr>
            </a:pPr>
            <a:r>
              <a:rPr sz="2250" b="0">
                <a:solidFill>
                  <a:srgbClr val="17212B"/>
                </a:solidFill>
                <a:latin typeface="Arial"/>
                <a:ea typeface="Arial"/>
                <a:cs typeface="Arial"/>
              </a:rPr>
              <a:t>external actions, and unknown tools</a:t>
            </a:r>
          </a:p>
        </p:txBody>
      </p:sp>
      <p:sp>
        <p:nvSpPr>
          <p:cNvPr id="9" name="constraint-note">
            <a:extLst xmlns:a="http://schemas.openxmlformats.org/drawingml/2006/main">
              <a:ext uri="{FF2B5EF4-FFF2-40B4-BE49-F238E27FC236}">
                <a16:creationId xmlns:a16="http://schemas.microsoft.com/office/drawing/2014/main" id="{5F68BD64-42FA-4666-A56E-4899649A218E}"/>
              </a:ext>
            </a:extLst>
          </p:cNvPr>
          <p:cNvSpPr>
            <a:spLocks xmlns:a="http://schemas.openxmlformats.org/drawingml/2006/main" noGrp="1"/>
          </p:cNvSpPr>
          <p:nvPr/>
        </p:nvSpPr>
        <p:spPr>
          <a:xfrm xmlns:a="http://schemas.openxmlformats.org/drawingml/2006/main">
            <a:off x="647700" y="597217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435362"/>
                </a:solidFill>
                <a:latin typeface="Arial"/>
                <a:ea typeface="Arial"/>
                <a:cs typeface="Arial"/>
              </a:defRPr>
            </a:defPPr>
            <a:lvl1pPr>
              <a:defRPr sz="1875" b="0">
                <a:solidFill>
                  <a:srgbClr val="435362"/>
                </a:solidFill>
                <a:latin typeface="Arial"/>
                <a:ea typeface="Arial"/>
                <a:cs typeface="Arial"/>
              </a:defRPr>
            </a:lvl1pPr>
            <a:lvl2pPr>
              <a:defRPr sz="1875" b="0">
                <a:solidFill>
                  <a:srgbClr val="435362"/>
                </a:solidFill>
                <a:latin typeface="Arial"/>
                <a:ea typeface="Arial"/>
                <a:cs typeface="Arial"/>
              </a:defRPr>
            </a:lvl2pPr>
            <a:lvl3pPr>
              <a:defRPr sz="1875" b="0">
                <a:solidFill>
                  <a:srgbClr val="435362"/>
                </a:solidFill>
                <a:latin typeface="Arial"/>
                <a:ea typeface="Arial"/>
                <a:cs typeface="Arial"/>
              </a:defRPr>
            </a:lvl3pPr>
            <a:lvl4pPr>
              <a:defRPr sz="1875" b="0">
                <a:solidFill>
                  <a:srgbClr val="435362"/>
                </a:solidFill>
                <a:latin typeface="Arial"/>
                <a:ea typeface="Arial"/>
                <a:cs typeface="Arial"/>
              </a:defRPr>
            </a:lvl4pPr>
            <a:lvl5pPr>
              <a:defRPr sz="1875" b="0">
                <a:solidFill>
                  <a:srgbClr val="435362"/>
                </a:solidFill>
                <a:latin typeface="Arial"/>
                <a:ea typeface="Arial"/>
                <a:cs typeface="Arial"/>
              </a:defRPr>
            </a:lvl5pPr>
            <a:lvl6pPr>
              <a:defRPr sz="1875" b="0">
                <a:solidFill>
                  <a:srgbClr val="435362"/>
                </a:solidFill>
                <a:latin typeface="Arial"/>
                <a:ea typeface="Arial"/>
                <a:cs typeface="Arial"/>
              </a:defRPr>
            </a:lvl6pPr>
            <a:lvl7pPr>
              <a:defRPr sz="1875" b="0">
                <a:solidFill>
                  <a:srgbClr val="435362"/>
                </a:solidFill>
                <a:latin typeface="Arial"/>
                <a:ea typeface="Arial"/>
                <a:cs typeface="Arial"/>
              </a:defRPr>
            </a:lvl7pPr>
            <a:lvl8pPr>
              <a:defRPr sz="1875" b="0">
                <a:solidFill>
                  <a:srgbClr val="435362"/>
                </a:solidFill>
                <a:latin typeface="Arial"/>
                <a:ea typeface="Arial"/>
                <a:cs typeface="Arial"/>
              </a:defRPr>
            </a:lvl8pPr>
            <a:lvl9pPr>
              <a:defRPr sz="1875" b="0">
                <a:solidFill>
                  <a:srgbClr val="435362"/>
                </a:solidFill>
                <a:latin typeface="Arial"/>
                <a:ea typeface="Arial"/>
                <a:cs typeface="Arial"/>
              </a:defRPr>
            </a:lvl9pPr>
          </a:lstStyle>
          <a:p xmlns:a="http://schemas.openxmlformats.org/drawingml/2006/main">
            <a:pPr>
              <a:defRPr sz="1875" b="0">
                <a:solidFill>
                  <a:srgbClr val="435362"/>
                </a:solidFill>
                <a:latin typeface="Arial"/>
                <a:ea typeface="Arial"/>
                <a:cs typeface="Arial"/>
              </a:defRPr>
            </a:pPr>
            <a:r>
              <a:rPr sz="1875" b="0">
                <a:solidFill>
                  <a:srgbClr val="435362"/>
                </a:solidFill>
                <a:latin typeface="Arial"/>
                <a:ea typeface="Arial"/>
                <a:cs typeface="Arial"/>
              </a:rPr>
              <a:t>Matching a recipient restriction does not approve a write.</a:t>
            </a:r>
          </a:p>
        </p:txBody>
      </p:sp>
    </p:spTree>
    <p:extLst>
      <p:ext uri="{BB962C8B-B14F-4D97-AF65-F5344CB8AC3E}">
        <p14:creationId xmlns:p14="http://schemas.microsoft.com/office/powerpoint/2010/main" val="164017063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755A68C7-EBD7-4813-BEA5-28A5E80F6851}"/>
              </a:ext>
            </a:extLst>
          </p:cNvPr>
          <p:cNvSpPr>
            <a:spLocks xmlns:a="http://schemas.openxmlformats.org/drawingml/2006/main" noGrp="1"/>
          </p:cNvSpPr>
          <p:nvPr/>
        </p:nvSpPr>
        <p:spPr>
          <a:xfrm xmlns:a="http://schemas.openxmlformats.org/drawingml/2006/main">
            <a:off x="609600" y="43815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7212B"/>
                </a:solidFill>
                <a:latin typeface="Arial"/>
                <a:ea typeface="Arial"/>
                <a:cs typeface="Arial"/>
              </a:defRPr>
            </a:defPPr>
            <a:lvl1pPr>
              <a:defRPr sz="3600" b="1">
                <a:solidFill>
                  <a:srgbClr val="17212B"/>
                </a:solidFill>
                <a:latin typeface="Arial"/>
                <a:ea typeface="Arial"/>
                <a:cs typeface="Arial"/>
              </a:defRPr>
            </a:lvl1pPr>
            <a:lvl2pPr>
              <a:defRPr sz="3600" b="1">
                <a:solidFill>
                  <a:srgbClr val="17212B"/>
                </a:solidFill>
                <a:latin typeface="Arial"/>
                <a:ea typeface="Arial"/>
                <a:cs typeface="Arial"/>
              </a:defRPr>
            </a:lvl2pPr>
            <a:lvl3pPr>
              <a:defRPr sz="3600" b="1">
                <a:solidFill>
                  <a:srgbClr val="17212B"/>
                </a:solidFill>
                <a:latin typeface="Arial"/>
                <a:ea typeface="Arial"/>
                <a:cs typeface="Arial"/>
              </a:defRPr>
            </a:lvl3pPr>
            <a:lvl4pPr>
              <a:defRPr sz="3600" b="1">
                <a:solidFill>
                  <a:srgbClr val="17212B"/>
                </a:solidFill>
                <a:latin typeface="Arial"/>
                <a:ea typeface="Arial"/>
                <a:cs typeface="Arial"/>
              </a:defRPr>
            </a:lvl4pPr>
            <a:lvl5pPr>
              <a:defRPr sz="3600" b="1">
                <a:solidFill>
                  <a:srgbClr val="17212B"/>
                </a:solidFill>
                <a:latin typeface="Arial"/>
                <a:ea typeface="Arial"/>
                <a:cs typeface="Arial"/>
              </a:defRPr>
            </a:lvl5pPr>
            <a:lvl6pPr>
              <a:defRPr sz="3600" b="1">
                <a:solidFill>
                  <a:srgbClr val="17212B"/>
                </a:solidFill>
                <a:latin typeface="Arial"/>
                <a:ea typeface="Arial"/>
                <a:cs typeface="Arial"/>
              </a:defRPr>
            </a:lvl6pPr>
            <a:lvl7pPr>
              <a:defRPr sz="3600" b="1">
                <a:solidFill>
                  <a:srgbClr val="17212B"/>
                </a:solidFill>
                <a:latin typeface="Arial"/>
                <a:ea typeface="Arial"/>
                <a:cs typeface="Arial"/>
              </a:defRPr>
            </a:lvl7pPr>
            <a:lvl8pPr>
              <a:defRPr sz="3600" b="1">
                <a:solidFill>
                  <a:srgbClr val="17212B"/>
                </a:solidFill>
                <a:latin typeface="Arial"/>
                <a:ea typeface="Arial"/>
                <a:cs typeface="Arial"/>
              </a:defRPr>
            </a:lvl8pPr>
            <a:lvl9pPr>
              <a:defRPr sz="3600" b="1">
                <a:solidFill>
                  <a:srgbClr val="17212B"/>
                </a:solidFill>
                <a:latin typeface="Arial"/>
                <a:ea typeface="Arial"/>
                <a:cs typeface="Arial"/>
              </a:defRPr>
            </a:lvl9pPr>
          </a:lstStyle>
          <a:p xmlns:a="http://schemas.openxmlformats.org/drawingml/2006/main">
            <a:pPr>
              <a:defRPr sz="3600" b="1">
                <a:solidFill>
                  <a:srgbClr val="17212B"/>
                </a:solidFill>
                <a:latin typeface="Arial"/>
                <a:ea typeface="Arial"/>
                <a:cs typeface="Arial"/>
              </a:defRPr>
            </a:pPr>
            <a:r>
              <a:rPr sz="3600" b="1">
                <a:solidFill>
                  <a:srgbClr val="17212B"/>
                </a:solidFill>
                <a:latin typeface="Arial"/>
                <a:ea typeface="Arial"/>
                <a:cs typeface="Arial"/>
              </a:rPr>
              <a:t>Validation and limits</a:t>
            </a:r>
          </a:p>
        </p:txBody>
      </p:sp>
      <p:sp>
        <p:nvSpPr>
          <p:cNvPr id="2" name="test-count">
            <a:extLst xmlns:a="http://schemas.openxmlformats.org/drawingml/2006/main">
              <a:ext uri="{FF2B5EF4-FFF2-40B4-BE49-F238E27FC236}">
                <a16:creationId xmlns:a16="http://schemas.microsoft.com/office/drawing/2014/main" id="{D1091FC4-660C-4474-A027-0B1C565ED058}"/>
              </a:ext>
            </a:extLst>
          </p:cNvPr>
          <p:cNvSpPr>
            <a:spLocks xmlns:a="http://schemas.openxmlformats.org/drawingml/2006/main" noGrp="1"/>
          </p:cNvSpPr>
          <p:nvPr/>
        </p:nvSpPr>
        <p:spPr>
          <a:xfrm xmlns:a="http://schemas.openxmlformats.org/drawingml/2006/main">
            <a:off x="647700" y="1695450"/>
            <a:ext cx="2476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7050" b="1">
                <a:solidFill>
                  <a:srgbClr val="17212B"/>
                </a:solidFill>
                <a:latin typeface="Arial"/>
                <a:ea typeface="Arial"/>
                <a:cs typeface="Arial"/>
              </a:defRPr>
            </a:defPPr>
            <a:lvl1pPr>
              <a:defRPr sz="7050" b="1">
                <a:solidFill>
                  <a:srgbClr val="17212B"/>
                </a:solidFill>
                <a:latin typeface="Arial"/>
                <a:ea typeface="Arial"/>
                <a:cs typeface="Arial"/>
              </a:defRPr>
            </a:lvl1pPr>
            <a:lvl2pPr>
              <a:defRPr sz="7050" b="1">
                <a:solidFill>
                  <a:srgbClr val="17212B"/>
                </a:solidFill>
                <a:latin typeface="Arial"/>
                <a:ea typeface="Arial"/>
                <a:cs typeface="Arial"/>
              </a:defRPr>
            </a:lvl2pPr>
            <a:lvl3pPr>
              <a:defRPr sz="7050" b="1">
                <a:solidFill>
                  <a:srgbClr val="17212B"/>
                </a:solidFill>
                <a:latin typeface="Arial"/>
                <a:ea typeface="Arial"/>
                <a:cs typeface="Arial"/>
              </a:defRPr>
            </a:lvl3pPr>
            <a:lvl4pPr>
              <a:defRPr sz="7050" b="1">
                <a:solidFill>
                  <a:srgbClr val="17212B"/>
                </a:solidFill>
                <a:latin typeface="Arial"/>
                <a:ea typeface="Arial"/>
                <a:cs typeface="Arial"/>
              </a:defRPr>
            </a:lvl4pPr>
            <a:lvl5pPr>
              <a:defRPr sz="7050" b="1">
                <a:solidFill>
                  <a:srgbClr val="17212B"/>
                </a:solidFill>
                <a:latin typeface="Arial"/>
                <a:ea typeface="Arial"/>
                <a:cs typeface="Arial"/>
              </a:defRPr>
            </a:lvl5pPr>
            <a:lvl6pPr>
              <a:defRPr sz="7050" b="1">
                <a:solidFill>
                  <a:srgbClr val="17212B"/>
                </a:solidFill>
                <a:latin typeface="Arial"/>
                <a:ea typeface="Arial"/>
                <a:cs typeface="Arial"/>
              </a:defRPr>
            </a:lvl6pPr>
            <a:lvl7pPr>
              <a:defRPr sz="7050" b="1">
                <a:solidFill>
                  <a:srgbClr val="17212B"/>
                </a:solidFill>
                <a:latin typeface="Arial"/>
                <a:ea typeface="Arial"/>
                <a:cs typeface="Arial"/>
              </a:defRPr>
            </a:lvl7pPr>
            <a:lvl8pPr>
              <a:defRPr sz="7050" b="1">
                <a:solidFill>
                  <a:srgbClr val="17212B"/>
                </a:solidFill>
                <a:latin typeface="Arial"/>
                <a:ea typeface="Arial"/>
                <a:cs typeface="Arial"/>
              </a:defRPr>
            </a:lvl8pPr>
            <a:lvl9pPr>
              <a:defRPr sz="7050" b="1">
                <a:solidFill>
                  <a:srgbClr val="17212B"/>
                </a:solidFill>
                <a:latin typeface="Arial"/>
                <a:ea typeface="Arial"/>
                <a:cs typeface="Arial"/>
              </a:defRPr>
            </a:lvl9pPr>
          </a:lstStyle>
          <a:p xmlns:a="http://schemas.openxmlformats.org/drawingml/2006/main">
            <a:pPr>
              <a:defRPr sz="7050" b="1">
                <a:solidFill>
                  <a:srgbClr val="17212B"/>
                </a:solidFill>
                <a:latin typeface="Arial"/>
                <a:ea typeface="Arial"/>
                <a:cs typeface="Arial"/>
              </a:defRPr>
            </a:pPr>
            <a:r>
              <a:rPr sz="7050" b="1">
                <a:solidFill>
                  <a:srgbClr val="17212B"/>
                </a:solidFill>
                <a:latin typeface="Arial"/>
                <a:ea typeface="Arial"/>
                <a:cs typeface="Arial"/>
              </a:rPr>
              <a:t>117</a:t>
            </a:r>
          </a:p>
        </p:txBody>
      </p:sp>
      <p:sp>
        <p:nvSpPr>
          <p:cNvPr id="3" name="test-label">
            <a:extLst xmlns:a="http://schemas.openxmlformats.org/drawingml/2006/main">
              <a:ext uri="{FF2B5EF4-FFF2-40B4-BE49-F238E27FC236}">
                <a16:creationId xmlns:a16="http://schemas.microsoft.com/office/drawing/2014/main" id="{B0A22721-2A1E-474A-9F88-2A3D5A8B3E2C}"/>
              </a:ext>
            </a:extLst>
          </p:cNvPr>
          <p:cNvSpPr>
            <a:spLocks xmlns:a="http://schemas.openxmlformats.org/drawingml/2006/main" noGrp="1"/>
          </p:cNvSpPr>
          <p:nvPr/>
        </p:nvSpPr>
        <p:spPr>
          <a:xfrm xmlns:a="http://schemas.openxmlformats.org/drawingml/2006/main">
            <a:off x="685800" y="2781300"/>
            <a:ext cx="266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212B"/>
                </a:solidFill>
                <a:latin typeface="Arial"/>
                <a:ea typeface="Arial"/>
                <a:cs typeface="Arial"/>
              </a:defRPr>
            </a:defPPr>
            <a:lvl1pPr>
              <a:defRPr sz="2175" b="0">
                <a:solidFill>
                  <a:srgbClr val="17212B"/>
                </a:solidFill>
                <a:latin typeface="Arial"/>
                <a:ea typeface="Arial"/>
                <a:cs typeface="Arial"/>
              </a:defRPr>
            </a:lvl1pPr>
            <a:lvl2pPr>
              <a:defRPr sz="2175" b="0">
                <a:solidFill>
                  <a:srgbClr val="17212B"/>
                </a:solidFill>
                <a:latin typeface="Arial"/>
                <a:ea typeface="Arial"/>
                <a:cs typeface="Arial"/>
              </a:defRPr>
            </a:lvl2pPr>
            <a:lvl3pPr>
              <a:defRPr sz="2175" b="0">
                <a:solidFill>
                  <a:srgbClr val="17212B"/>
                </a:solidFill>
                <a:latin typeface="Arial"/>
                <a:ea typeface="Arial"/>
                <a:cs typeface="Arial"/>
              </a:defRPr>
            </a:lvl3pPr>
            <a:lvl4pPr>
              <a:defRPr sz="2175" b="0">
                <a:solidFill>
                  <a:srgbClr val="17212B"/>
                </a:solidFill>
                <a:latin typeface="Arial"/>
                <a:ea typeface="Arial"/>
                <a:cs typeface="Arial"/>
              </a:defRPr>
            </a:lvl4pPr>
            <a:lvl5pPr>
              <a:defRPr sz="2175" b="0">
                <a:solidFill>
                  <a:srgbClr val="17212B"/>
                </a:solidFill>
                <a:latin typeface="Arial"/>
                <a:ea typeface="Arial"/>
                <a:cs typeface="Arial"/>
              </a:defRPr>
            </a:lvl5pPr>
            <a:lvl6pPr>
              <a:defRPr sz="2175" b="0">
                <a:solidFill>
                  <a:srgbClr val="17212B"/>
                </a:solidFill>
                <a:latin typeface="Arial"/>
                <a:ea typeface="Arial"/>
                <a:cs typeface="Arial"/>
              </a:defRPr>
            </a:lvl6pPr>
            <a:lvl7pPr>
              <a:defRPr sz="2175" b="0">
                <a:solidFill>
                  <a:srgbClr val="17212B"/>
                </a:solidFill>
                <a:latin typeface="Arial"/>
                <a:ea typeface="Arial"/>
                <a:cs typeface="Arial"/>
              </a:defRPr>
            </a:lvl7pPr>
            <a:lvl8pPr>
              <a:defRPr sz="2175" b="0">
                <a:solidFill>
                  <a:srgbClr val="17212B"/>
                </a:solidFill>
                <a:latin typeface="Arial"/>
                <a:ea typeface="Arial"/>
                <a:cs typeface="Arial"/>
              </a:defRPr>
            </a:lvl8pPr>
            <a:lvl9pPr>
              <a:defRPr sz="2175" b="0">
                <a:solidFill>
                  <a:srgbClr val="17212B"/>
                </a:solidFill>
                <a:latin typeface="Arial"/>
                <a:ea typeface="Arial"/>
                <a:cs typeface="Arial"/>
              </a:defRPr>
            </a:lvl9pPr>
          </a:lstStyle>
          <a:p xmlns:a="http://schemas.openxmlformats.org/drawingml/2006/main">
            <a:pPr>
              <a:defRPr sz="2175" b="0">
                <a:solidFill>
                  <a:srgbClr val="17212B"/>
                </a:solidFill>
                <a:latin typeface="Arial"/>
                <a:ea typeface="Arial"/>
                <a:cs typeface="Arial"/>
              </a:defRPr>
            </a:pPr>
            <a:r>
              <a:rPr sz="2175" b="0">
                <a:solidFill>
                  <a:srgbClr val="17212B"/>
                </a:solidFill>
                <a:latin typeface="Arial"/>
                <a:ea typeface="Arial"/>
                <a:cs typeface="Arial"/>
              </a:rPr>
              <a:t>local tests passed</a:t>
            </a:r>
          </a:p>
        </p:txBody>
      </p:sp>
      <p:sp>
        <p:nvSpPr>
          <p:cNvPr id="4" name="budget-check">
            <a:extLst xmlns:a="http://schemas.openxmlformats.org/drawingml/2006/main">
              <a:ext uri="{FF2B5EF4-FFF2-40B4-BE49-F238E27FC236}">
                <a16:creationId xmlns:a16="http://schemas.microsoft.com/office/drawing/2014/main" id="{8A83E097-50C1-4BCD-8652-2270C272F547}"/>
              </a:ext>
            </a:extLst>
          </p:cNvPr>
          <p:cNvSpPr>
            <a:spLocks xmlns:a="http://schemas.openxmlformats.org/drawingml/2006/main" noGrp="1"/>
          </p:cNvSpPr>
          <p:nvPr/>
        </p:nvSpPr>
        <p:spPr>
          <a:xfrm xmlns:a="http://schemas.openxmlformats.org/drawingml/2006/main">
            <a:off x="4048125" y="1752600"/>
            <a:ext cx="7524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7212B"/>
                </a:solidFill>
                <a:latin typeface="Arial"/>
                <a:ea typeface="Arial"/>
                <a:cs typeface="Arial"/>
              </a:defRPr>
            </a:defPPr>
            <a:lvl1pPr>
              <a:defRPr sz="2400" b="0">
                <a:solidFill>
                  <a:srgbClr val="17212B"/>
                </a:solidFill>
                <a:latin typeface="Arial"/>
                <a:ea typeface="Arial"/>
                <a:cs typeface="Arial"/>
              </a:defRPr>
            </a:lvl1pPr>
            <a:lvl2pPr>
              <a:defRPr sz="2400" b="0">
                <a:solidFill>
                  <a:srgbClr val="17212B"/>
                </a:solidFill>
                <a:latin typeface="Arial"/>
                <a:ea typeface="Arial"/>
                <a:cs typeface="Arial"/>
              </a:defRPr>
            </a:lvl2pPr>
            <a:lvl3pPr>
              <a:defRPr sz="2400" b="0">
                <a:solidFill>
                  <a:srgbClr val="17212B"/>
                </a:solidFill>
                <a:latin typeface="Arial"/>
                <a:ea typeface="Arial"/>
                <a:cs typeface="Arial"/>
              </a:defRPr>
            </a:lvl3pPr>
            <a:lvl4pPr>
              <a:defRPr sz="2400" b="0">
                <a:solidFill>
                  <a:srgbClr val="17212B"/>
                </a:solidFill>
                <a:latin typeface="Arial"/>
                <a:ea typeface="Arial"/>
                <a:cs typeface="Arial"/>
              </a:defRPr>
            </a:lvl4pPr>
            <a:lvl5pPr>
              <a:defRPr sz="2400" b="0">
                <a:solidFill>
                  <a:srgbClr val="17212B"/>
                </a:solidFill>
                <a:latin typeface="Arial"/>
                <a:ea typeface="Arial"/>
                <a:cs typeface="Arial"/>
              </a:defRPr>
            </a:lvl5pPr>
            <a:lvl6pPr>
              <a:defRPr sz="2400" b="0">
                <a:solidFill>
                  <a:srgbClr val="17212B"/>
                </a:solidFill>
                <a:latin typeface="Arial"/>
                <a:ea typeface="Arial"/>
                <a:cs typeface="Arial"/>
              </a:defRPr>
            </a:lvl6pPr>
            <a:lvl7pPr>
              <a:defRPr sz="2400" b="0">
                <a:solidFill>
                  <a:srgbClr val="17212B"/>
                </a:solidFill>
                <a:latin typeface="Arial"/>
                <a:ea typeface="Arial"/>
                <a:cs typeface="Arial"/>
              </a:defRPr>
            </a:lvl7pPr>
            <a:lvl8pPr>
              <a:defRPr sz="2400" b="0">
                <a:solidFill>
                  <a:srgbClr val="17212B"/>
                </a:solidFill>
                <a:latin typeface="Arial"/>
                <a:ea typeface="Arial"/>
                <a:cs typeface="Arial"/>
              </a:defRPr>
            </a:lvl8pPr>
            <a:lvl9pPr>
              <a:defRPr sz="2400" b="0">
                <a:solidFill>
                  <a:srgbClr val="17212B"/>
                </a:solidFill>
                <a:latin typeface="Arial"/>
                <a:ea typeface="Arial"/>
                <a:cs typeface="Arial"/>
              </a:defRPr>
            </a:lvl9pPr>
          </a:lstStyle>
          <a:p xmlns:a="http://schemas.openxmlformats.org/drawingml/2006/main">
            <a:pPr>
              <a:defRPr sz="2400" b="0">
                <a:solidFill>
                  <a:srgbClr val="17212B"/>
                </a:solidFill>
                <a:latin typeface="Arial"/>
                <a:ea typeface="Arial"/>
                <a:cs typeface="Arial"/>
              </a:defRPr>
            </a:pPr>
            <a:r>
              <a:rPr sz="2400" b="0">
                <a:solidFill>
                  <a:srgbClr val="17212B"/>
                </a:solidFill>
                <a:latin typeface="Arial"/>
                <a:ea typeface="Arial"/>
                <a:cs typeface="Arial"/>
              </a:rPr>
              <a:t>At k = 0:</a:t>
            </a:r>
          </a:p>
          <a:p xmlns:a="http://schemas.openxmlformats.org/drawingml/2006/main">
            <a:pPr>
              <a:defRPr sz="2400" b="0">
                <a:solidFill>
                  <a:srgbClr val="17212B"/>
                </a:solidFill>
                <a:latin typeface="Arial"/>
                <a:ea typeface="Arial"/>
                <a:cs typeface="Arial"/>
              </a:defRPr>
            </a:pPr>
            <a:r>
              <a:rPr sz="2400" b="0">
                <a:solidFill>
                  <a:srgbClr val="17212B"/>
                </a:solidFill>
                <a:latin typeface="Arial"/>
                <a:ea typeface="Arial"/>
                <a:cs typeface="Arial"/>
              </a:rPr>
              <a:t>Escalation is denied; approved queries still run.</a:t>
            </a:r>
          </a:p>
        </p:txBody>
      </p:sp>
      <p:sp>
        <p:nvSpPr>
          <p:cNvPr id="5" name="reset-check">
            <a:extLst xmlns:a="http://schemas.openxmlformats.org/drawingml/2006/main">
              <a:ext uri="{FF2B5EF4-FFF2-40B4-BE49-F238E27FC236}">
                <a16:creationId xmlns:a16="http://schemas.microsoft.com/office/drawing/2014/main" id="{30CDBFC8-0836-46DB-A38D-3744FF71FEDD}"/>
              </a:ext>
            </a:extLst>
          </p:cNvPr>
          <p:cNvSpPr>
            <a:spLocks xmlns:a="http://schemas.openxmlformats.org/drawingml/2006/main" noGrp="1"/>
          </p:cNvSpPr>
          <p:nvPr/>
        </p:nvSpPr>
        <p:spPr>
          <a:xfrm xmlns:a="http://schemas.openxmlformats.org/drawingml/2006/main">
            <a:off x="4048125" y="3019425"/>
            <a:ext cx="7524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7212B"/>
                </a:solidFill>
                <a:latin typeface="Arial"/>
                <a:ea typeface="Arial"/>
                <a:cs typeface="Arial"/>
              </a:defRPr>
            </a:defPPr>
            <a:lvl1pPr>
              <a:defRPr sz="2250" b="0">
                <a:solidFill>
                  <a:srgbClr val="17212B"/>
                </a:solidFill>
                <a:latin typeface="Arial"/>
                <a:ea typeface="Arial"/>
                <a:cs typeface="Arial"/>
              </a:defRPr>
            </a:lvl1pPr>
            <a:lvl2pPr>
              <a:defRPr sz="2250" b="0">
                <a:solidFill>
                  <a:srgbClr val="17212B"/>
                </a:solidFill>
                <a:latin typeface="Arial"/>
                <a:ea typeface="Arial"/>
                <a:cs typeface="Arial"/>
              </a:defRPr>
            </a:lvl2pPr>
            <a:lvl3pPr>
              <a:defRPr sz="2250" b="0">
                <a:solidFill>
                  <a:srgbClr val="17212B"/>
                </a:solidFill>
                <a:latin typeface="Arial"/>
                <a:ea typeface="Arial"/>
                <a:cs typeface="Arial"/>
              </a:defRPr>
            </a:lvl3pPr>
            <a:lvl4pPr>
              <a:defRPr sz="2250" b="0">
                <a:solidFill>
                  <a:srgbClr val="17212B"/>
                </a:solidFill>
                <a:latin typeface="Arial"/>
                <a:ea typeface="Arial"/>
                <a:cs typeface="Arial"/>
              </a:defRPr>
            </a:lvl4pPr>
            <a:lvl5pPr>
              <a:defRPr sz="2250" b="0">
                <a:solidFill>
                  <a:srgbClr val="17212B"/>
                </a:solidFill>
                <a:latin typeface="Arial"/>
                <a:ea typeface="Arial"/>
                <a:cs typeface="Arial"/>
              </a:defRPr>
            </a:lvl5pPr>
            <a:lvl6pPr>
              <a:defRPr sz="2250" b="0">
                <a:solidFill>
                  <a:srgbClr val="17212B"/>
                </a:solidFill>
                <a:latin typeface="Arial"/>
                <a:ea typeface="Arial"/>
                <a:cs typeface="Arial"/>
              </a:defRPr>
            </a:lvl6pPr>
            <a:lvl7pPr>
              <a:defRPr sz="2250" b="0">
                <a:solidFill>
                  <a:srgbClr val="17212B"/>
                </a:solidFill>
                <a:latin typeface="Arial"/>
                <a:ea typeface="Arial"/>
                <a:cs typeface="Arial"/>
              </a:defRPr>
            </a:lvl7pPr>
            <a:lvl8pPr>
              <a:defRPr sz="2250" b="0">
                <a:solidFill>
                  <a:srgbClr val="17212B"/>
                </a:solidFill>
                <a:latin typeface="Arial"/>
                <a:ea typeface="Arial"/>
                <a:cs typeface="Arial"/>
              </a:defRPr>
            </a:lvl8pPr>
            <a:lvl9pPr>
              <a:defRPr sz="2250" b="0">
                <a:solidFill>
                  <a:srgbClr val="17212B"/>
                </a:solidFill>
                <a:latin typeface="Arial"/>
                <a:ea typeface="Arial"/>
                <a:cs typeface="Arial"/>
              </a:defRPr>
            </a:lvl9pPr>
          </a:lstStyle>
          <a:p xmlns:a="http://schemas.openxmlformats.org/drawingml/2006/main">
            <a:pPr>
              <a:defRPr sz="2250" b="0">
                <a:solidFill>
                  <a:srgbClr val="17212B"/>
                </a:solidFill>
                <a:latin typeface="Arial"/>
                <a:ea typeface="Arial"/>
                <a:cs typeface="Arial"/>
              </a:defRPr>
            </a:pPr>
            <a:r>
              <a:rPr sz="2250" b="0">
                <a:solidFill>
                  <a:srgbClr val="17212B"/>
                </a:solidFill>
                <a:latin typeface="Arial"/>
                <a:ea typeface="Arial"/>
                <a:cs typeface="Arial"/>
              </a:rPr>
              <a:t>The gate shares the budget across turns</a:t>
            </a:r>
          </a:p>
          <a:p xmlns:a="http://schemas.openxmlformats.org/drawingml/2006/main">
            <a:pPr>
              <a:defRPr sz="2250" b="0">
                <a:solidFill>
                  <a:srgbClr val="17212B"/>
                </a:solidFill>
                <a:latin typeface="Arial"/>
                <a:ea typeface="Arial"/>
                <a:cs typeface="Arial"/>
              </a:defRPr>
            </a:pPr>
            <a:r>
              <a:rPr sz="2250" b="0">
                <a:solidFill>
                  <a:srgbClr val="17212B"/>
                </a:solidFill>
                <a:latin typeface="Arial"/>
                <a:ea typeface="Arial"/>
                <a:cs typeface="Arial"/>
              </a:rPr>
              <a:t>and resets it once per task.</a:t>
            </a:r>
          </a:p>
        </p:txBody>
      </p:sp>
      <p:sp>
        <p:nvSpPr>
          <p:cNvPr id="6" name="failure-title">
            <a:extLst xmlns:a="http://schemas.openxmlformats.org/drawingml/2006/main">
              <a:ext uri="{FF2B5EF4-FFF2-40B4-BE49-F238E27FC236}">
                <a16:creationId xmlns:a16="http://schemas.microsoft.com/office/drawing/2014/main" id="{EAD2F829-22D0-482C-89D4-DF751603D79B}"/>
              </a:ext>
            </a:extLst>
          </p:cNvPr>
          <p:cNvSpPr>
            <a:spLocks xmlns:a="http://schemas.openxmlformats.org/drawingml/2006/main" noGrp="1"/>
          </p:cNvSpPr>
          <p:nvPr/>
        </p:nvSpPr>
        <p:spPr>
          <a:xfrm xmlns:a="http://schemas.openxmlformats.org/drawingml/2006/main">
            <a:off x="647700" y="439102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17212B"/>
                </a:solidFill>
                <a:latin typeface="Arial"/>
                <a:ea typeface="Arial"/>
                <a:cs typeface="Arial"/>
              </a:defRPr>
            </a:defPPr>
            <a:lvl1pPr>
              <a:defRPr sz="2475" b="1">
                <a:solidFill>
                  <a:srgbClr val="17212B"/>
                </a:solidFill>
                <a:latin typeface="Arial"/>
                <a:ea typeface="Arial"/>
                <a:cs typeface="Arial"/>
              </a:defRPr>
            </a:lvl1pPr>
            <a:lvl2pPr>
              <a:defRPr sz="2475" b="1">
                <a:solidFill>
                  <a:srgbClr val="17212B"/>
                </a:solidFill>
                <a:latin typeface="Arial"/>
                <a:ea typeface="Arial"/>
                <a:cs typeface="Arial"/>
              </a:defRPr>
            </a:lvl2pPr>
            <a:lvl3pPr>
              <a:defRPr sz="2475" b="1">
                <a:solidFill>
                  <a:srgbClr val="17212B"/>
                </a:solidFill>
                <a:latin typeface="Arial"/>
                <a:ea typeface="Arial"/>
                <a:cs typeface="Arial"/>
              </a:defRPr>
            </a:lvl3pPr>
            <a:lvl4pPr>
              <a:defRPr sz="2475" b="1">
                <a:solidFill>
                  <a:srgbClr val="17212B"/>
                </a:solidFill>
                <a:latin typeface="Arial"/>
                <a:ea typeface="Arial"/>
                <a:cs typeface="Arial"/>
              </a:defRPr>
            </a:lvl4pPr>
            <a:lvl5pPr>
              <a:defRPr sz="2475" b="1">
                <a:solidFill>
                  <a:srgbClr val="17212B"/>
                </a:solidFill>
                <a:latin typeface="Arial"/>
                <a:ea typeface="Arial"/>
                <a:cs typeface="Arial"/>
              </a:defRPr>
            </a:lvl5pPr>
            <a:lvl6pPr>
              <a:defRPr sz="2475" b="1">
                <a:solidFill>
                  <a:srgbClr val="17212B"/>
                </a:solidFill>
                <a:latin typeface="Arial"/>
                <a:ea typeface="Arial"/>
                <a:cs typeface="Arial"/>
              </a:defRPr>
            </a:lvl6pPr>
            <a:lvl7pPr>
              <a:defRPr sz="2475" b="1">
                <a:solidFill>
                  <a:srgbClr val="17212B"/>
                </a:solidFill>
                <a:latin typeface="Arial"/>
                <a:ea typeface="Arial"/>
                <a:cs typeface="Arial"/>
              </a:defRPr>
            </a:lvl7pPr>
            <a:lvl8pPr>
              <a:defRPr sz="2475" b="1">
                <a:solidFill>
                  <a:srgbClr val="17212B"/>
                </a:solidFill>
                <a:latin typeface="Arial"/>
                <a:ea typeface="Arial"/>
                <a:cs typeface="Arial"/>
              </a:defRPr>
            </a:lvl8pPr>
            <a:lvl9pPr>
              <a:defRPr sz="2475" b="1">
                <a:solidFill>
                  <a:srgbClr val="17212B"/>
                </a:solidFill>
                <a:latin typeface="Arial"/>
                <a:ea typeface="Arial"/>
                <a:cs typeface="Arial"/>
              </a:defRPr>
            </a:lvl9pPr>
          </a:lstStyle>
          <a:p xmlns:a="http://schemas.openxmlformats.org/drawingml/2006/main">
            <a:pPr>
              <a:defRPr sz="2475" b="1">
                <a:solidFill>
                  <a:srgbClr val="17212B"/>
                </a:solidFill>
                <a:latin typeface="Arial"/>
                <a:ea typeface="Arial"/>
                <a:cs typeface="Arial"/>
              </a:defRPr>
            </a:pPr>
            <a:r>
              <a:rPr sz="2475" b="1">
                <a:solidFill>
                  <a:srgbClr val="17212B"/>
                </a:solidFill>
                <a:latin typeface="Arial"/>
                <a:ea typeface="Arial"/>
                <a:cs typeface="Arial"/>
              </a:rPr>
              <a:t>Two constructed failure examples</a:t>
            </a:r>
          </a:p>
        </p:txBody>
      </p:sp>
      <p:sp>
        <p:nvSpPr>
          <p:cNvPr id="7" name="failure-one">
            <a:extLst xmlns:a="http://schemas.openxmlformats.org/drawingml/2006/main">
              <a:ext uri="{FF2B5EF4-FFF2-40B4-BE49-F238E27FC236}">
                <a16:creationId xmlns:a16="http://schemas.microsoft.com/office/drawing/2014/main" id="{4CC4B92A-1DC5-42CF-B030-D79E62FC8DF9}"/>
              </a:ext>
            </a:extLst>
          </p:cNvPr>
          <p:cNvSpPr>
            <a:spLocks xmlns:a="http://schemas.openxmlformats.org/drawingml/2006/main" noGrp="1"/>
          </p:cNvSpPr>
          <p:nvPr/>
        </p:nvSpPr>
        <p:spPr>
          <a:xfrm xmlns:a="http://schemas.openxmlformats.org/drawingml/2006/main">
            <a:off x="685800" y="50101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212B"/>
                </a:solidFill>
                <a:latin typeface="Arial"/>
                <a:ea typeface="Arial"/>
                <a:cs typeface="Arial"/>
              </a:defRPr>
            </a:defPPr>
            <a:lvl1pPr>
              <a:defRPr sz="2100" b="0">
                <a:solidFill>
                  <a:srgbClr val="17212B"/>
                </a:solidFill>
                <a:latin typeface="Arial"/>
                <a:ea typeface="Arial"/>
                <a:cs typeface="Arial"/>
              </a:defRPr>
            </a:lvl1pPr>
            <a:lvl2pPr>
              <a:defRPr sz="2100" b="0">
                <a:solidFill>
                  <a:srgbClr val="17212B"/>
                </a:solidFill>
                <a:latin typeface="Arial"/>
                <a:ea typeface="Arial"/>
                <a:cs typeface="Arial"/>
              </a:defRPr>
            </a:lvl2pPr>
            <a:lvl3pPr>
              <a:defRPr sz="2100" b="0">
                <a:solidFill>
                  <a:srgbClr val="17212B"/>
                </a:solidFill>
                <a:latin typeface="Arial"/>
                <a:ea typeface="Arial"/>
                <a:cs typeface="Arial"/>
              </a:defRPr>
            </a:lvl3pPr>
            <a:lvl4pPr>
              <a:defRPr sz="2100" b="0">
                <a:solidFill>
                  <a:srgbClr val="17212B"/>
                </a:solidFill>
                <a:latin typeface="Arial"/>
                <a:ea typeface="Arial"/>
                <a:cs typeface="Arial"/>
              </a:defRPr>
            </a:lvl4pPr>
            <a:lvl5pPr>
              <a:defRPr sz="2100" b="0">
                <a:solidFill>
                  <a:srgbClr val="17212B"/>
                </a:solidFill>
                <a:latin typeface="Arial"/>
                <a:ea typeface="Arial"/>
                <a:cs typeface="Arial"/>
              </a:defRPr>
            </a:lvl5pPr>
            <a:lvl6pPr>
              <a:defRPr sz="2100" b="0">
                <a:solidFill>
                  <a:srgbClr val="17212B"/>
                </a:solidFill>
                <a:latin typeface="Arial"/>
                <a:ea typeface="Arial"/>
                <a:cs typeface="Arial"/>
              </a:defRPr>
            </a:lvl6pPr>
            <a:lvl7pPr>
              <a:defRPr sz="2100" b="0">
                <a:solidFill>
                  <a:srgbClr val="17212B"/>
                </a:solidFill>
                <a:latin typeface="Arial"/>
                <a:ea typeface="Arial"/>
                <a:cs typeface="Arial"/>
              </a:defRPr>
            </a:lvl7pPr>
            <a:lvl8pPr>
              <a:defRPr sz="2100" b="0">
                <a:solidFill>
                  <a:srgbClr val="17212B"/>
                </a:solidFill>
                <a:latin typeface="Arial"/>
                <a:ea typeface="Arial"/>
                <a:cs typeface="Arial"/>
              </a:defRPr>
            </a:lvl8pPr>
            <a:lvl9pPr>
              <a:defRPr sz="2100" b="0">
                <a:solidFill>
                  <a:srgbClr val="17212B"/>
                </a:solidFill>
                <a:latin typeface="Arial"/>
                <a:ea typeface="Arial"/>
                <a:cs typeface="Arial"/>
              </a:defRPr>
            </a:lvl9pPr>
          </a:lstStyle>
          <a:p xmlns:a="http://schemas.openxmlformats.org/drawingml/2006/main">
            <a:pPr>
              <a:defRPr sz="2100" b="0">
                <a:solidFill>
                  <a:srgbClr val="17212B"/>
                </a:solidFill>
                <a:latin typeface="Arial"/>
                <a:ea typeface="Arial"/>
                <a:cs typeface="Arial"/>
              </a:defRPr>
            </a:pPr>
            <a:r>
              <a:rPr sz="2100" b="0">
                <a:solidFill>
                  <a:srgbClr val="17212B"/>
                </a:solidFill>
                <a:latin typeface="Arial"/>
                <a:ea typeface="Arial"/>
                <a:cs typeface="Arial"/>
              </a:rPr>
              <a:t>A safe send is blocked when review budget is exhausted.</a:t>
            </a:r>
          </a:p>
        </p:txBody>
      </p:sp>
      <p:sp>
        <p:nvSpPr>
          <p:cNvPr id="8" name="failure-two">
            <a:extLst xmlns:a="http://schemas.openxmlformats.org/drawingml/2006/main">
              <a:ext uri="{FF2B5EF4-FFF2-40B4-BE49-F238E27FC236}">
                <a16:creationId xmlns:a16="http://schemas.microsoft.com/office/drawing/2014/main" id="{CD1FC80C-B79B-44A7-A988-DB98F06D7C1F}"/>
              </a:ext>
            </a:extLst>
          </p:cNvPr>
          <p:cNvSpPr>
            <a:spLocks xmlns:a="http://schemas.openxmlformats.org/drawingml/2006/main" noGrp="1"/>
          </p:cNvSpPr>
          <p:nvPr/>
        </p:nvSpPr>
        <p:spPr>
          <a:xfrm xmlns:a="http://schemas.openxmlformats.org/drawingml/2006/main">
            <a:off x="685800" y="553402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212B"/>
                </a:solidFill>
                <a:latin typeface="Arial"/>
                <a:ea typeface="Arial"/>
                <a:cs typeface="Arial"/>
              </a:defRPr>
            </a:defPPr>
            <a:lvl1pPr>
              <a:defRPr sz="2100" b="0">
                <a:solidFill>
                  <a:srgbClr val="17212B"/>
                </a:solidFill>
                <a:latin typeface="Arial"/>
                <a:ea typeface="Arial"/>
                <a:cs typeface="Arial"/>
              </a:defRPr>
            </a:lvl1pPr>
            <a:lvl2pPr>
              <a:defRPr sz="2100" b="0">
                <a:solidFill>
                  <a:srgbClr val="17212B"/>
                </a:solidFill>
                <a:latin typeface="Arial"/>
                <a:ea typeface="Arial"/>
                <a:cs typeface="Arial"/>
              </a:defRPr>
            </a:lvl2pPr>
            <a:lvl3pPr>
              <a:defRPr sz="2100" b="0">
                <a:solidFill>
                  <a:srgbClr val="17212B"/>
                </a:solidFill>
                <a:latin typeface="Arial"/>
                <a:ea typeface="Arial"/>
                <a:cs typeface="Arial"/>
              </a:defRPr>
            </a:lvl3pPr>
            <a:lvl4pPr>
              <a:defRPr sz="2100" b="0">
                <a:solidFill>
                  <a:srgbClr val="17212B"/>
                </a:solidFill>
                <a:latin typeface="Arial"/>
                <a:ea typeface="Arial"/>
                <a:cs typeface="Arial"/>
              </a:defRPr>
            </a:lvl4pPr>
            <a:lvl5pPr>
              <a:defRPr sz="2100" b="0">
                <a:solidFill>
                  <a:srgbClr val="17212B"/>
                </a:solidFill>
                <a:latin typeface="Arial"/>
                <a:ea typeface="Arial"/>
                <a:cs typeface="Arial"/>
              </a:defRPr>
            </a:lvl5pPr>
            <a:lvl6pPr>
              <a:defRPr sz="2100" b="0">
                <a:solidFill>
                  <a:srgbClr val="17212B"/>
                </a:solidFill>
                <a:latin typeface="Arial"/>
                <a:ea typeface="Arial"/>
                <a:cs typeface="Arial"/>
              </a:defRPr>
            </a:lvl6pPr>
            <a:lvl7pPr>
              <a:defRPr sz="2100" b="0">
                <a:solidFill>
                  <a:srgbClr val="17212B"/>
                </a:solidFill>
                <a:latin typeface="Arial"/>
                <a:ea typeface="Arial"/>
                <a:cs typeface="Arial"/>
              </a:defRPr>
            </a:lvl7pPr>
            <a:lvl8pPr>
              <a:defRPr sz="2100" b="0">
                <a:solidFill>
                  <a:srgbClr val="17212B"/>
                </a:solidFill>
                <a:latin typeface="Arial"/>
                <a:ea typeface="Arial"/>
                <a:cs typeface="Arial"/>
              </a:defRPr>
            </a:lvl8pPr>
            <a:lvl9pPr>
              <a:defRPr sz="2100" b="0">
                <a:solidFill>
                  <a:srgbClr val="17212B"/>
                </a:solidFill>
                <a:latin typeface="Arial"/>
                <a:ea typeface="Arial"/>
                <a:cs typeface="Arial"/>
              </a:defRPr>
            </a:lvl9pPr>
          </a:lstStyle>
          <a:p xmlns:a="http://schemas.openxmlformats.org/drawingml/2006/main">
            <a:pPr>
              <a:defRPr sz="2100" b="0">
                <a:solidFill>
                  <a:srgbClr val="17212B"/>
                </a:solidFill>
                <a:latin typeface="Arial"/>
                <a:ea typeface="Arial"/>
                <a:cs typeface="Arial"/>
              </a:defRPr>
            </a:pPr>
            <a:r>
              <a:rPr sz="2100" b="0">
                <a:solidFill>
                  <a:srgbClr val="17212B"/>
                </a:solidFill>
                <a:latin typeface="Arial"/>
                <a:ea typeface="Arial"/>
                <a:cs typeface="Arial"/>
              </a:rPr>
              <a:t>A wrong-object read passes the operation allow-list.</a:t>
            </a:r>
          </a:p>
        </p:txBody>
      </p:sp>
      <p:sp>
        <p:nvSpPr>
          <p:cNvPr id="9" name="evaluation-note">
            <a:extLst xmlns:a="http://schemas.openxmlformats.org/drawingml/2006/main">
              <a:ext uri="{FF2B5EF4-FFF2-40B4-BE49-F238E27FC236}">
                <a16:creationId xmlns:a16="http://schemas.microsoft.com/office/drawing/2014/main" id="{D6352265-E0AD-458E-8C09-A7FC76E78FDE}"/>
              </a:ext>
            </a:extLst>
          </p:cNvPr>
          <p:cNvSpPr>
            <a:spLocks xmlns:a="http://schemas.openxmlformats.org/drawingml/2006/main" noGrp="1"/>
          </p:cNvSpPr>
          <p:nvPr/>
        </p:nvSpPr>
        <p:spPr>
          <a:xfrm xmlns:a="http://schemas.openxmlformats.org/drawingml/2006/main">
            <a:off x="685800" y="619125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435362"/>
                </a:solidFill>
                <a:latin typeface="Arial"/>
                <a:ea typeface="Arial"/>
                <a:cs typeface="Arial"/>
              </a:defRPr>
            </a:defPPr>
            <a:lvl1pPr>
              <a:defRPr sz="1725" b="0">
                <a:solidFill>
                  <a:srgbClr val="435362"/>
                </a:solidFill>
                <a:latin typeface="Arial"/>
                <a:ea typeface="Arial"/>
                <a:cs typeface="Arial"/>
              </a:defRPr>
            </a:lvl1pPr>
            <a:lvl2pPr>
              <a:defRPr sz="1725" b="0">
                <a:solidFill>
                  <a:srgbClr val="435362"/>
                </a:solidFill>
                <a:latin typeface="Arial"/>
                <a:ea typeface="Arial"/>
                <a:cs typeface="Arial"/>
              </a:defRPr>
            </a:lvl2pPr>
            <a:lvl3pPr>
              <a:defRPr sz="1725" b="0">
                <a:solidFill>
                  <a:srgbClr val="435362"/>
                </a:solidFill>
                <a:latin typeface="Arial"/>
                <a:ea typeface="Arial"/>
                <a:cs typeface="Arial"/>
              </a:defRPr>
            </a:lvl3pPr>
            <a:lvl4pPr>
              <a:defRPr sz="1725" b="0">
                <a:solidFill>
                  <a:srgbClr val="435362"/>
                </a:solidFill>
                <a:latin typeface="Arial"/>
                <a:ea typeface="Arial"/>
                <a:cs typeface="Arial"/>
              </a:defRPr>
            </a:lvl4pPr>
            <a:lvl5pPr>
              <a:defRPr sz="1725" b="0">
                <a:solidFill>
                  <a:srgbClr val="435362"/>
                </a:solidFill>
                <a:latin typeface="Arial"/>
                <a:ea typeface="Arial"/>
                <a:cs typeface="Arial"/>
              </a:defRPr>
            </a:lvl5pPr>
            <a:lvl6pPr>
              <a:defRPr sz="1725" b="0">
                <a:solidFill>
                  <a:srgbClr val="435362"/>
                </a:solidFill>
                <a:latin typeface="Arial"/>
                <a:ea typeface="Arial"/>
                <a:cs typeface="Arial"/>
              </a:defRPr>
            </a:lvl6pPr>
            <a:lvl7pPr>
              <a:defRPr sz="1725" b="0">
                <a:solidFill>
                  <a:srgbClr val="435362"/>
                </a:solidFill>
                <a:latin typeface="Arial"/>
                <a:ea typeface="Arial"/>
                <a:cs typeface="Arial"/>
              </a:defRPr>
            </a:lvl7pPr>
            <a:lvl8pPr>
              <a:defRPr sz="1725" b="0">
                <a:solidFill>
                  <a:srgbClr val="435362"/>
                </a:solidFill>
                <a:latin typeface="Arial"/>
                <a:ea typeface="Arial"/>
                <a:cs typeface="Arial"/>
              </a:defRPr>
            </a:lvl8pPr>
            <a:lvl9pPr>
              <a:defRPr sz="1725" b="0">
                <a:solidFill>
                  <a:srgbClr val="435362"/>
                </a:solidFill>
                <a:latin typeface="Arial"/>
                <a:ea typeface="Arial"/>
                <a:cs typeface="Arial"/>
              </a:defRPr>
            </a:lvl9pPr>
          </a:lstStyle>
          <a:p xmlns:a="http://schemas.openxmlformats.org/drawingml/2006/main">
            <a:pPr>
              <a:defRPr sz="1725" b="0">
                <a:solidFill>
                  <a:srgbClr val="435362"/>
                </a:solidFill>
                <a:latin typeface="Arial"/>
                <a:ea typeface="Arial"/>
                <a:cs typeface="Arial"/>
              </a:defRPr>
            </a:pPr>
            <a:r>
              <a:rPr sz="1725" b="0">
                <a:solidFill>
                  <a:srgbClr val="435362"/>
                </a:solidFill>
                <a:latin typeface="Arial"/>
                <a:ea typeface="Arial"/>
                <a:cs typeface="Arial"/>
              </a:rPr>
              <a:t>Formal AgentDojo curves, review load, and API cost remain pending.</a:t>
            </a:r>
          </a:p>
        </p:txBody>
      </p:sp>
    </p:spTree>
    <p:extLst>
      <p:ext uri="{BB962C8B-B14F-4D97-AF65-F5344CB8AC3E}">
        <p14:creationId xmlns:p14="http://schemas.microsoft.com/office/powerpoint/2010/main" val="176169011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2026-10-25T18:08:05.3430000Z</dcterms:created>
  <dcterms:modified xsi:type="dcterms:W3CDTF">2026-10-25T18:08:05.3430000Z</dcterms:modified>
</coreProperties>
</file>